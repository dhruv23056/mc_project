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Now Bold" charset="1" panose="00000800000000000000"/>
      <p:regular r:id="rId18"/>
    </p:embeddedFont>
    <p:embeddedFont>
      <p:font typeface="DM Sans Italics" charset="1" panose="00000000000000000000"/>
      <p:regular r:id="rId19"/>
    </p:embeddedFont>
    <p:embeddedFont>
      <p:font typeface="DM Sans" charset="1" panose="000000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jpe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 Id="rId4" Target="../media/image9.jpe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svg" Type="http://schemas.openxmlformats.org/officeDocument/2006/relationships/image"/><Relationship Id="rId11" Target="../media/image25.png" Type="http://schemas.openxmlformats.org/officeDocument/2006/relationships/image"/><Relationship Id="rId12" Target="../media/image26.svg" Type="http://schemas.openxmlformats.org/officeDocument/2006/relationships/image"/><Relationship Id="rId2" Target="../media/image1.jpeg" Type="http://schemas.openxmlformats.org/officeDocument/2006/relationships/image"/><Relationship Id="rId3" Target="../media/image17.png" Type="http://schemas.openxmlformats.org/officeDocument/2006/relationships/image"/><Relationship Id="rId4" Target="../media/image18.sv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 Id="rId7" Target="../media/image21.png" Type="http://schemas.openxmlformats.org/officeDocument/2006/relationships/image"/><Relationship Id="rId8" Target="../media/image22.svg" Type="http://schemas.openxmlformats.org/officeDocument/2006/relationships/image"/><Relationship Id="rId9" Target="../media/image2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 Id="rId5" Target="../media/image25.png" Type="http://schemas.openxmlformats.org/officeDocument/2006/relationships/image"/><Relationship Id="rId6" Target="../media/image26.svg" Type="http://schemas.openxmlformats.org/officeDocument/2006/relationships/image"/><Relationship Id="rId7" Target="../media/image27.jpeg" Type="http://schemas.openxmlformats.org/officeDocument/2006/relationships/image"/><Relationship Id="rId8" Target="../media/image28.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 Id="rId5" Target="../media/image25.png" Type="http://schemas.openxmlformats.org/officeDocument/2006/relationships/image"/><Relationship Id="rId6" Target="../media/image26.svg" Type="http://schemas.openxmlformats.org/officeDocument/2006/relationships/image"/><Relationship Id="rId7" Target="../media/image29.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 Id="rId5" Target="../media/image25.png" Type="http://schemas.openxmlformats.org/officeDocument/2006/relationships/image"/><Relationship Id="rId6" Target="../media/image26.svg" Type="http://schemas.openxmlformats.org/officeDocument/2006/relationships/image"/><Relationship Id="rId7" Target="../media/image30.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 Id="rId5" Target="../media/image25.png" Type="http://schemas.openxmlformats.org/officeDocument/2006/relationships/image"/><Relationship Id="rId6" Target="../media/image26.svg" Type="http://schemas.openxmlformats.org/officeDocument/2006/relationships/image"/><Relationship Id="rId7" Target="../media/image3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 Id="rId5" Target="../media/image25.png" Type="http://schemas.openxmlformats.org/officeDocument/2006/relationships/image"/><Relationship Id="rId6" Target="../media/image26.svg" Type="http://schemas.openxmlformats.org/officeDocument/2006/relationships/image"/><Relationship Id="rId7" Target="../media/image32.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 Id="rId5" Target="../media/image25.png" Type="http://schemas.openxmlformats.org/officeDocument/2006/relationships/image"/><Relationship Id="rId6" Target="../media/image26.svg" Type="http://schemas.openxmlformats.org/officeDocument/2006/relationships/image"/><Relationship Id="rId7" Target="../media/image33.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Freeform 3" id="3"/>
          <p:cNvSpPr/>
          <p:nvPr/>
        </p:nvSpPr>
        <p:spPr>
          <a:xfrm flipH="false" flipV="false" rot="1748409">
            <a:off x="-1871927" y="7973496"/>
            <a:ext cx="6755091" cy="6130246"/>
          </a:xfrm>
          <a:custGeom>
            <a:avLst/>
            <a:gdLst/>
            <a:ahLst/>
            <a:cxnLst/>
            <a:rect r="r" b="b" t="t" l="l"/>
            <a:pathLst>
              <a:path h="6130246" w="6755091">
                <a:moveTo>
                  <a:pt x="0" y="0"/>
                </a:moveTo>
                <a:lnTo>
                  <a:pt x="6755092" y="0"/>
                </a:lnTo>
                <a:lnTo>
                  <a:pt x="6755092" y="6130246"/>
                </a:lnTo>
                <a:lnTo>
                  <a:pt x="0" y="6130246"/>
                </a:lnTo>
                <a:lnTo>
                  <a:pt x="0" y="0"/>
                </a:lnTo>
                <a:close/>
              </a:path>
            </a:pathLst>
          </a:custGeom>
          <a:blipFill>
            <a:blip r:embed="rId3"/>
            <a:stretch>
              <a:fillRect l="0" t="0" r="0" b="0"/>
            </a:stretch>
          </a:blipFill>
        </p:spPr>
      </p:sp>
      <p:sp>
        <p:nvSpPr>
          <p:cNvPr name="Freeform 4" id="4"/>
          <p:cNvSpPr/>
          <p:nvPr/>
        </p:nvSpPr>
        <p:spPr>
          <a:xfrm flipH="false" flipV="false" rot="2223819">
            <a:off x="10214960" y="-5715833"/>
            <a:ext cx="12596877" cy="11431666"/>
          </a:xfrm>
          <a:custGeom>
            <a:avLst/>
            <a:gdLst/>
            <a:ahLst/>
            <a:cxnLst/>
            <a:rect r="r" b="b" t="t" l="l"/>
            <a:pathLst>
              <a:path h="11431666" w="12596877">
                <a:moveTo>
                  <a:pt x="0" y="0"/>
                </a:moveTo>
                <a:lnTo>
                  <a:pt x="12596877" y="0"/>
                </a:lnTo>
                <a:lnTo>
                  <a:pt x="12596877" y="11431666"/>
                </a:lnTo>
                <a:lnTo>
                  <a:pt x="0" y="11431666"/>
                </a:lnTo>
                <a:lnTo>
                  <a:pt x="0" y="0"/>
                </a:lnTo>
                <a:close/>
              </a:path>
            </a:pathLst>
          </a:custGeom>
          <a:blipFill>
            <a:blip r:embed="rId3"/>
            <a:stretch>
              <a:fillRect l="0" t="0" r="0" b="0"/>
            </a:stretch>
          </a:blipFill>
        </p:spPr>
      </p:sp>
      <p:sp>
        <p:nvSpPr>
          <p:cNvPr name="Freeform 5" id="5"/>
          <p:cNvSpPr/>
          <p:nvPr/>
        </p:nvSpPr>
        <p:spPr>
          <a:xfrm flipH="false" flipV="false" rot="0">
            <a:off x="-1028700" y="-1435399"/>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alphaModFix amt="67000"/>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8194833">
            <a:off x="14482979" y="8370874"/>
            <a:ext cx="5020066" cy="5020066"/>
          </a:xfrm>
          <a:custGeom>
            <a:avLst/>
            <a:gdLst/>
            <a:ahLst/>
            <a:cxnLst/>
            <a:rect r="r" b="b" t="t" l="l"/>
            <a:pathLst>
              <a:path h="5020066" w="5020066">
                <a:moveTo>
                  <a:pt x="0" y="0"/>
                </a:moveTo>
                <a:lnTo>
                  <a:pt x="5020067" y="0"/>
                </a:lnTo>
                <a:lnTo>
                  <a:pt x="5020067" y="5020066"/>
                </a:lnTo>
                <a:lnTo>
                  <a:pt x="0" y="5020066"/>
                </a:lnTo>
                <a:lnTo>
                  <a:pt x="0" y="0"/>
                </a:lnTo>
                <a:close/>
              </a:path>
            </a:pathLst>
          </a:custGeom>
          <a:blipFill>
            <a:blip r:embed="rId4">
              <a:alphaModFix amt="67000"/>
              <a:extLst>
                <a:ext uri="{96DAC541-7B7A-43D3-8B79-37D633B846F1}">
                  <asvg:svgBlip xmlns:asvg="http://schemas.microsoft.com/office/drawing/2016/SVG/main" r:embed="rId5"/>
                </a:ext>
              </a:extLst>
            </a:blip>
            <a:stretch>
              <a:fillRect l="0" t="0" r="0" b="0"/>
            </a:stretch>
          </a:blipFill>
        </p:spPr>
      </p:sp>
      <p:grpSp>
        <p:nvGrpSpPr>
          <p:cNvPr name="Group 7" id="7"/>
          <p:cNvGrpSpPr>
            <a:grpSpLocks noChangeAspect="true"/>
          </p:cNvGrpSpPr>
          <p:nvPr/>
        </p:nvGrpSpPr>
        <p:grpSpPr>
          <a:xfrm rot="0">
            <a:off x="10865044" y="2937790"/>
            <a:ext cx="4713159" cy="4713159"/>
            <a:chOff x="0" y="0"/>
            <a:chExt cx="14840029" cy="14840029"/>
          </a:xfrm>
        </p:grpSpPr>
        <p:sp>
          <p:nvSpPr>
            <p:cNvPr name="Freeform 8" id="8"/>
            <p:cNvSpPr/>
            <p:nvPr/>
          </p:nvSpPr>
          <p:spPr>
            <a:xfrm flipH="false" flipV="false" rot="0">
              <a:off x="-366471" y="-11891"/>
              <a:ext cx="15572971" cy="14863810"/>
            </a:xfrm>
            <a:custGeom>
              <a:avLst/>
              <a:gdLst/>
              <a:ahLst/>
              <a:cxnLst/>
              <a:rect r="r" b="b" t="t" l="l"/>
              <a:pathLst>
                <a:path h="14863810" w="15572971">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gradFill rotWithShape="true">
              <a:gsLst>
                <a:gs pos="0">
                  <a:srgbClr val="048AFF">
                    <a:alpha val="100000"/>
                  </a:srgbClr>
                </a:gs>
                <a:gs pos="100000">
                  <a:srgbClr val="B100E8">
                    <a:alpha val="100000"/>
                  </a:srgbClr>
                </a:gs>
              </a:gsLst>
              <a:lin ang="2100000"/>
            </a:gradFill>
          </p:spPr>
        </p:sp>
        <p:sp>
          <p:nvSpPr>
            <p:cNvPr name="Freeform 9" id="9"/>
            <p:cNvSpPr/>
            <p:nvPr/>
          </p:nvSpPr>
          <p:spPr>
            <a:xfrm flipH="false" flipV="false" rot="0">
              <a:off x="-156193" y="188812"/>
              <a:ext cx="15152415" cy="14462405"/>
            </a:xfrm>
            <a:custGeom>
              <a:avLst/>
              <a:gdLst/>
              <a:ahLst/>
              <a:cxnLst/>
              <a:rect r="r" b="b" t="t" l="l"/>
              <a:pathLst>
                <a:path h="14462405" w="1515241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solidFill>
              <a:srgbClr val="2B1511"/>
            </a:solidFill>
          </p:spPr>
        </p:sp>
        <p:sp>
          <p:nvSpPr>
            <p:cNvPr name="Freeform 10" id="10"/>
            <p:cNvSpPr/>
            <p:nvPr/>
          </p:nvSpPr>
          <p:spPr>
            <a:xfrm flipH="false" flipV="false" rot="0">
              <a:off x="223301" y="551024"/>
              <a:ext cx="14393427" cy="13737979"/>
            </a:xfrm>
            <a:custGeom>
              <a:avLst/>
              <a:gdLst/>
              <a:ahLst/>
              <a:cxnLst/>
              <a:rect r="r" b="b" t="t" l="l"/>
              <a:pathLst>
                <a:path h="13737979" w="14393427">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a:blip r:embed="rId6"/>
              <a:stretch>
                <a:fillRect l="223" t="0" r="223" b="0"/>
              </a:stretch>
            </a:blipFill>
          </p:spPr>
        </p:sp>
      </p:grpSp>
      <p:sp>
        <p:nvSpPr>
          <p:cNvPr name="Freeform 11" id="11"/>
          <p:cNvSpPr/>
          <p:nvPr/>
        </p:nvSpPr>
        <p:spPr>
          <a:xfrm flipH="false" flipV="false" rot="0">
            <a:off x="1674634" y="1969764"/>
            <a:ext cx="1173233" cy="1164700"/>
          </a:xfrm>
          <a:custGeom>
            <a:avLst/>
            <a:gdLst/>
            <a:ahLst/>
            <a:cxnLst/>
            <a:rect r="r" b="b" t="t" l="l"/>
            <a:pathLst>
              <a:path h="1164700" w="1173233">
                <a:moveTo>
                  <a:pt x="0" y="0"/>
                </a:moveTo>
                <a:lnTo>
                  <a:pt x="1173233" y="0"/>
                </a:lnTo>
                <a:lnTo>
                  <a:pt x="1173233" y="1164701"/>
                </a:lnTo>
                <a:lnTo>
                  <a:pt x="0" y="116470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2" id="12"/>
          <p:cNvSpPr txBox="true"/>
          <p:nvPr/>
        </p:nvSpPr>
        <p:spPr>
          <a:xfrm rot="0">
            <a:off x="1674634" y="3432013"/>
            <a:ext cx="6184250" cy="2673066"/>
          </a:xfrm>
          <a:prstGeom prst="rect">
            <a:avLst/>
          </a:prstGeom>
        </p:spPr>
        <p:txBody>
          <a:bodyPr anchor="t" rtlCol="false" tIns="0" lIns="0" bIns="0" rIns="0">
            <a:spAutoFit/>
          </a:bodyPr>
          <a:lstStyle/>
          <a:p>
            <a:pPr algn="l">
              <a:lnSpc>
                <a:spcPts val="10645"/>
              </a:lnSpc>
            </a:pPr>
            <a:r>
              <a:rPr lang="en-US" sz="7658">
                <a:solidFill>
                  <a:srgbClr val="048AFF"/>
                </a:solidFill>
                <a:latin typeface="Now Bold"/>
              </a:rPr>
              <a:t>OPEN BUS TRANSMIT</a:t>
            </a:r>
          </a:p>
        </p:txBody>
      </p:sp>
      <p:sp>
        <p:nvSpPr>
          <p:cNvPr name="TextBox 13" id="13"/>
          <p:cNvSpPr txBox="true"/>
          <p:nvPr/>
        </p:nvSpPr>
        <p:spPr>
          <a:xfrm rot="0">
            <a:off x="4558288" y="7650948"/>
            <a:ext cx="7827699" cy="2223287"/>
          </a:xfrm>
          <a:prstGeom prst="rect">
            <a:avLst/>
          </a:prstGeom>
        </p:spPr>
        <p:txBody>
          <a:bodyPr anchor="t" rtlCol="false" tIns="0" lIns="0" bIns="0" rIns="0">
            <a:spAutoFit/>
          </a:bodyPr>
          <a:lstStyle/>
          <a:p>
            <a:pPr algn="l">
              <a:lnSpc>
                <a:spcPts val="3583"/>
              </a:lnSpc>
            </a:pPr>
            <a:r>
              <a:rPr lang="en-US" sz="2913">
                <a:solidFill>
                  <a:srgbClr val="FFFAEB"/>
                </a:solidFill>
                <a:latin typeface="DM Sans Italics"/>
              </a:rPr>
              <a:t>Presented by: </a:t>
            </a:r>
          </a:p>
          <a:p>
            <a:pPr algn="l">
              <a:lnSpc>
                <a:spcPts val="3583"/>
              </a:lnSpc>
            </a:pPr>
            <a:r>
              <a:rPr lang="en-US" sz="2913">
                <a:solidFill>
                  <a:srgbClr val="FFFAEB"/>
                </a:solidFill>
                <a:latin typeface="DM Sans Italics"/>
              </a:rPr>
              <a:t>Dhruv Patel (MT23056)</a:t>
            </a:r>
          </a:p>
          <a:p>
            <a:pPr algn="l">
              <a:lnSpc>
                <a:spcPts val="3583"/>
              </a:lnSpc>
            </a:pPr>
            <a:r>
              <a:rPr lang="en-US" sz="2913">
                <a:solidFill>
                  <a:srgbClr val="FFFAEB"/>
                </a:solidFill>
                <a:latin typeface="DM Sans Italics"/>
              </a:rPr>
              <a:t>Harshkuamr Patel (MT23037)</a:t>
            </a:r>
          </a:p>
          <a:p>
            <a:pPr algn="l">
              <a:lnSpc>
                <a:spcPts val="3583"/>
              </a:lnSpc>
            </a:pPr>
            <a:r>
              <a:rPr lang="en-US" sz="2913">
                <a:solidFill>
                  <a:srgbClr val="FFFAEB"/>
                </a:solidFill>
                <a:latin typeface="DM Sans Italics"/>
              </a:rPr>
              <a:t>Kantilal Patel (MT23063)</a:t>
            </a:r>
          </a:p>
          <a:p>
            <a:pPr algn="l" marL="0" indent="0" lvl="0">
              <a:lnSpc>
                <a:spcPts val="3583"/>
              </a:lnSpc>
              <a:spcBef>
                <a:spcPct val="0"/>
              </a:spcBef>
            </a:pPr>
            <a:r>
              <a:rPr lang="en-US" sz="2913">
                <a:solidFill>
                  <a:srgbClr val="FFFAEB"/>
                </a:solidFill>
                <a:latin typeface="DM Sans Italics"/>
              </a:rPr>
              <a:t>Aryan Joshi (2020036)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Freeform 3" id="3"/>
          <p:cNvSpPr/>
          <p:nvPr/>
        </p:nvSpPr>
        <p:spPr>
          <a:xfrm flipH="false" flipV="false" rot="0">
            <a:off x="-689719" y="-1276542"/>
            <a:ext cx="2556280" cy="2553085"/>
          </a:xfrm>
          <a:custGeom>
            <a:avLst/>
            <a:gdLst/>
            <a:ahLst/>
            <a:cxnLst/>
            <a:rect r="r" b="b" t="t" l="l"/>
            <a:pathLst>
              <a:path h="2553085" w="2556280">
                <a:moveTo>
                  <a:pt x="0" y="0"/>
                </a:moveTo>
                <a:lnTo>
                  <a:pt x="2556280" y="0"/>
                </a:lnTo>
                <a:lnTo>
                  <a:pt x="2556280" y="2553084"/>
                </a:lnTo>
                <a:lnTo>
                  <a:pt x="0" y="2553084"/>
                </a:lnTo>
                <a:lnTo>
                  <a:pt x="0" y="0"/>
                </a:lnTo>
                <a:close/>
              </a:path>
            </a:pathLst>
          </a:custGeom>
          <a:blipFill>
            <a:blip r:embed="rId3"/>
            <a:stretch>
              <a:fillRect l="0" t="0" r="0" b="0"/>
            </a:stretch>
          </a:blipFill>
        </p:spPr>
      </p:sp>
      <p:grpSp>
        <p:nvGrpSpPr>
          <p:cNvPr name="Group 4" id="4"/>
          <p:cNvGrpSpPr/>
          <p:nvPr/>
        </p:nvGrpSpPr>
        <p:grpSpPr>
          <a:xfrm rot="0">
            <a:off x="9589607" y="0"/>
            <a:ext cx="8698393" cy="10400373"/>
            <a:chOff x="0" y="0"/>
            <a:chExt cx="8603361" cy="10286746"/>
          </a:xfrm>
        </p:grpSpPr>
        <p:sp>
          <p:nvSpPr>
            <p:cNvPr name="Freeform 5" id="5"/>
            <p:cNvSpPr/>
            <p:nvPr/>
          </p:nvSpPr>
          <p:spPr>
            <a:xfrm flipH="false" flipV="false" rot="0">
              <a:off x="-2794" y="-127"/>
              <a:ext cx="8606155" cy="10286873"/>
            </a:xfrm>
            <a:custGeom>
              <a:avLst/>
              <a:gdLst/>
              <a:ahLst/>
              <a:cxnLst/>
              <a:rect r="r" b="b" t="t" l="l"/>
              <a:pathLst>
                <a:path h="10286873" w="8606155">
                  <a:moveTo>
                    <a:pt x="8606155" y="10251440"/>
                  </a:moveTo>
                  <a:cubicBezTo>
                    <a:pt x="8606155" y="10284587"/>
                    <a:pt x="8595487" y="10286873"/>
                    <a:pt x="8567674" y="10286873"/>
                  </a:cubicBezTo>
                  <a:cubicBezTo>
                    <a:pt x="5713095" y="10286238"/>
                    <a:pt x="2858643" y="10286238"/>
                    <a:pt x="4064" y="10286238"/>
                  </a:cubicBezTo>
                  <a:cubicBezTo>
                    <a:pt x="0" y="10272395"/>
                    <a:pt x="6350" y="10259822"/>
                    <a:pt x="9271" y="10246995"/>
                  </a:cubicBezTo>
                  <a:cubicBezTo>
                    <a:pt x="134747" y="9685401"/>
                    <a:pt x="260350" y="9123934"/>
                    <a:pt x="386207" y="8562467"/>
                  </a:cubicBezTo>
                  <a:cubicBezTo>
                    <a:pt x="565658" y="7761986"/>
                    <a:pt x="745490" y="6961632"/>
                    <a:pt x="924814" y="6161151"/>
                  </a:cubicBezTo>
                  <a:cubicBezTo>
                    <a:pt x="1146302" y="5172583"/>
                    <a:pt x="1367282" y="4184015"/>
                    <a:pt x="1588643" y="3195574"/>
                  </a:cubicBezTo>
                  <a:cubicBezTo>
                    <a:pt x="1813560" y="2191385"/>
                    <a:pt x="2038604" y="1187323"/>
                    <a:pt x="2264156" y="183261"/>
                  </a:cubicBezTo>
                  <a:cubicBezTo>
                    <a:pt x="2277872" y="122174"/>
                    <a:pt x="2286635" y="59690"/>
                    <a:pt x="2308860" y="635"/>
                  </a:cubicBezTo>
                  <a:cubicBezTo>
                    <a:pt x="4395216" y="635"/>
                    <a:pt x="6481572" y="635"/>
                    <a:pt x="8567928" y="0"/>
                  </a:cubicBezTo>
                  <a:cubicBezTo>
                    <a:pt x="8596249" y="0"/>
                    <a:pt x="8605901" y="3429"/>
                    <a:pt x="8605901" y="35814"/>
                  </a:cubicBezTo>
                  <a:cubicBezTo>
                    <a:pt x="8605139" y="3441065"/>
                    <a:pt x="8605139" y="6846316"/>
                    <a:pt x="8606155" y="10251440"/>
                  </a:cubicBezTo>
                  <a:close/>
                </a:path>
              </a:pathLst>
            </a:custGeom>
            <a:blipFill>
              <a:blip r:embed="rId4"/>
              <a:stretch>
                <a:fillRect l="0" t="-27458" r="-1536" b="0"/>
              </a:stretch>
            </a:blipFill>
          </p:spPr>
        </p:sp>
      </p:grpSp>
      <p:sp>
        <p:nvSpPr>
          <p:cNvPr name="Freeform 6" id="6"/>
          <p:cNvSpPr/>
          <p:nvPr/>
        </p:nvSpPr>
        <p:spPr>
          <a:xfrm flipH="false" flipV="false" rot="0">
            <a:off x="7584476" y="8350189"/>
            <a:ext cx="4010261" cy="4005248"/>
          </a:xfrm>
          <a:custGeom>
            <a:avLst/>
            <a:gdLst/>
            <a:ahLst/>
            <a:cxnLst/>
            <a:rect r="r" b="b" t="t" l="l"/>
            <a:pathLst>
              <a:path h="4005248" w="4010261">
                <a:moveTo>
                  <a:pt x="0" y="0"/>
                </a:moveTo>
                <a:lnTo>
                  <a:pt x="4010261" y="0"/>
                </a:lnTo>
                <a:lnTo>
                  <a:pt x="4010261" y="4005248"/>
                </a:lnTo>
                <a:lnTo>
                  <a:pt x="0" y="4005248"/>
                </a:lnTo>
                <a:lnTo>
                  <a:pt x="0" y="0"/>
                </a:lnTo>
                <a:close/>
              </a:path>
            </a:pathLst>
          </a:custGeom>
          <a:blipFill>
            <a:blip r:embed="rId3"/>
            <a:stretch>
              <a:fillRect l="0" t="0" r="0" b="0"/>
            </a:stretch>
          </a:blipFill>
        </p:spPr>
      </p:sp>
      <p:sp>
        <p:nvSpPr>
          <p:cNvPr name="TextBox 7" id="7"/>
          <p:cNvSpPr txBox="true"/>
          <p:nvPr/>
        </p:nvSpPr>
        <p:spPr>
          <a:xfrm rot="0">
            <a:off x="3115104" y="1585374"/>
            <a:ext cx="5189556" cy="887363"/>
          </a:xfrm>
          <a:prstGeom prst="rect">
            <a:avLst/>
          </a:prstGeom>
        </p:spPr>
        <p:txBody>
          <a:bodyPr anchor="t" rtlCol="false" tIns="0" lIns="0" bIns="0" rIns="0">
            <a:spAutoFit/>
          </a:bodyPr>
          <a:lstStyle/>
          <a:p>
            <a:pPr algn="l">
              <a:lnSpc>
                <a:spcPts val="7173"/>
              </a:lnSpc>
            </a:pPr>
            <a:r>
              <a:rPr lang="en-US" sz="5160">
                <a:solidFill>
                  <a:srgbClr val="048AFF"/>
                </a:solidFill>
                <a:latin typeface="Now Bold"/>
              </a:rPr>
              <a:t>Introduction</a:t>
            </a:r>
          </a:p>
        </p:txBody>
      </p:sp>
      <p:sp>
        <p:nvSpPr>
          <p:cNvPr name="TextBox 8" id="8"/>
          <p:cNvSpPr txBox="true"/>
          <p:nvPr/>
        </p:nvSpPr>
        <p:spPr>
          <a:xfrm rot="0">
            <a:off x="3258979" y="2728396"/>
            <a:ext cx="6157357" cy="5307467"/>
          </a:xfrm>
          <a:prstGeom prst="rect">
            <a:avLst/>
          </a:prstGeom>
        </p:spPr>
        <p:txBody>
          <a:bodyPr anchor="t" rtlCol="false" tIns="0" lIns="0" bIns="0" rIns="0">
            <a:spAutoFit/>
          </a:bodyPr>
          <a:lstStyle/>
          <a:p>
            <a:pPr algn="l" marL="484878" indent="-242439" lvl="1">
              <a:lnSpc>
                <a:spcPts val="3278"/>
              </a:lnSpc>
              <a:buFont typeface="Arial"/>
              <a:buChar char="•"/>
            </a:pPr>
            <a:r>
              <a:rPr lang="en-US" sz="2245">
                <a:solidFill>
                  <a:srgbClr val="FFFFFF"/>
                </a:solidFill>
                <a:latin typeface="DM Sans"/>
              </a:rPr>
              <a:t>Our Android app transforms bus tracking, providing real-time updates and detailed routes for a seamless travel experience. It caters to two scenarios: "Inside Bus" for onboard users and "Outside Bus" for trip planning. With GPS, onboard users can find their location, nearest stops, and complete route maps. For external users, the app offers precise navigation, time management, and journey updates. This report explores our app's design, functionality, and user-centric features, enhancing travel convenience.</a:t>
            </a:r>
          </a:p>
        </p:txBody>
      </p:sp>
      <p:sp>
        <p:nvSpPr>
          <p:cNvPr name="Freeform 9" id="9"/>
          <p:cNvSpPr/>
          <p:nvPr/>
        </p:nvSpPr>
        <p:spPr>
          <a:xfrm flipH="false" flipV="false" rot="0">
            <a:off x="-855821" y="7696585"/>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5">
              <a:alphaModFix amt="67000"/>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14792965" y="-4982246"/>
            <a:ext cx="8083465" cy="8073361"/>
          </a:xfrm>
          <a:custGeom>
            <a:avLst/>
            <a:gdLst/>
            <a:ahLst/>
            <a:cxnLst/>
            <a:rect r="r" b="b" t="t" l="l"/>
            <a:pathLst>
              <a:path h="8073361" w="8083465">
                <a:moveTo>
                  <a:pt x="0" y="0"/>
                </a:moveTo>
                <a:lnTo>
                  <a:pt x="8083465" y="0"/>
                </a:lnTo>
                <a:lnTo>
                  <a:pt x="8083465" y="8073361"/>
                </a:lnTo>
                <a:lnTo>
                  <a:pt x="0" y="8073361"/>
                </a:lnTo>
                <a:lnTo>
                  <a:pt x="0" y="0"/>
                </a:lnTo>
                <a:close/>
              </a:path>
            </a:pathLst>
          </a:custGeom>
          <a:blipFill>
            <a:blip r:embed="rId3"/>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38888" r="0" b="-38888"/>
            </a:stretch>
          </a:blipFill>
        </p:spPr>
      </p:sp>
      <p:grpSp>
        <p:nvGrpSpPr>
          <p:cNvPr name="Group 3" id="3"/>
          <p:cNvGrpSpPr/>
          <p:nvPr/>
        </p:nvGrpSpPr>
        <p:grpSpPr>
          <a:xfrm rot="0">
            <a:off x="-1041088" y="0"/>
            <a:ext cx="6782652" cy="10287000"/>
            <a:chOff x="0" y="0"/>
            <a:chExt cx="1786377" cy="2709333"/>
          </a:xfrm>
        </p:grpSpPr>
        <p:sp>
          <p:nvSpPr>
            <p:cNvPr name="Freeform 4" id="4"/>
            <p:cNvSpPr/>
            <p:nvPr/>
          </p:nvSpPr>
          <p:spPr>
            <a:xfrm flipH="false" flipV="false" rot="0">
              <a:off x="0" y="0"/>
              <a:ext cx="1786377" cy="2709333"/>
            </a:xfrm>
            <a:custGeom>
              <a:avLst/>
              <a:gdLst/>
              <a:ahLst/>
              <a:cxnLst/>
              <a:rect r="r" b="b" t="t" l="l"/>
              <a:pathLst>
                <a:path h="2709333" w="1786377">
                  <a:moveTo>
                    <a:pt x="0" y="0"/>
                  </a:moveTo>
                  <a:lnTo>
                    <a:pt x="1786377" y="0"/>
                  </a:lnTo>
                  <a:lnTo>
                    <a:pt x="1786377" y="2709333"/>
                  </a:lnTo>
                  <a:lnTo>
                    <a:pt x="0" y="2709333"/>
                  </a:lnTo>
                  <a:close/>
                </a:path>
              </a:pathLst>
            </a:custGeom>
            <a:gradFill rotWithShape="true">
              <a:gsLst>
                <a:gs pos="0">
                  <a:srgbClr val="048AFF">
                    <a:alpha val="100000"/>
                  </a:srgbClr>
                </a:gs>
                <a:gs pos="100000">
                  <a:srgbClr val="B100E8">
                    <a:alpha val="100000"/>
                  </a:srgbClr>
                </a:gs>
              </a:gsLst>
              <a:path path="circle">
                <a:fillToRect l="0" r="100000" t="0" b="100000"/>
              </a:path>
              <a:tileRect r="0" l="-100000" b="0" t="-100000"/>
            </a:gradFill>
          </p:spPr>
        </p:sp>
        <p:sp>
          <p:nvSpPr>
            <p:cNvPr name="TextBox 5" id="5"/>
            <p:cNvSpPr txBox="true"/>
            <p:nvPr/>
          </p:nvSpPr>
          <p:spPr>
            <a:xfrm>
              <a:off x="0" y="-9525"/>
              <a:ext cx="1786377" cy="2718858"/>
            </a:xfrm>
            <a:prstGeom prst="rect">
              <a:avLst/>
            </a:prstGeom>
          </p:spPr>
          <p:txBody>
            <a:bodyPr anchor="ctr" rtlCol="false" tIns="50800" lIns="50800" bIns="50800" rIns="50800"/>
            <a:lstStyle/>
            <a:p>
              <a:pPr algn="ctr">
                <a:lnSpc>
                  <a:spcPts val="3131"/>
                </a:lnSpc>
              </a:pPr>
            </a:p>
          </p:txBody>
        </p:sp>
      </p:grpSp>
      <p:sp>
        <p:nvSpPr>
          <p:cNvPr name="Freeform 6" id="6"/>
          <p:cNvSpPr/>
          <p:nvPr/>
        </p:nvSpPr>
        <p:spPr>
          <a:xfrm flipH="false" flipV="false" rot="-1486492">
            <a:off x="15563637" y="8055643"/>
            <a:ext cx="3391326" cy="3387087"/>
          </a:xfrm>
          <a:custGeom>
            <a:avLst/>
            <a:gdLst/>
            <a:ahLst/>
            <a:cxnLst/>
            <a:rect r="r" b="b" t="t" l="l"/>
            <a:pathLst>
              <a:path h="3387087" w="3391326">
                <a:moveTo>
                  <a:pt x="0" y="0"/>
                </a:moveTo>
                <a:lnTo>
                  <a:pt x="3391326" y="0"/>
                </a:lnTo>
                <a:lnTo>
                  <a:pt x="3391326" y="3387087"/>
                </a:lnTo>
                <a:lnTo>
                  <a:pt x="0" y="3387087"/>
                </a:lnTo>
                <a:lnTo>
                  <a:pt x="0" y="0"/>
                </a:lnTo>
                <a:close/>
              </a:path>
            </a:pathLst>
          </a:custGeom>
          <a:blipFill>
            <a:blip r:embed="rId3"/>
            <a:stretch>
              <a:fillRect l="0" t="0" r="0" b="0"/>
            </a:stretch>
          </a:blipFill>
        </p:spPr>
      </p:sp>
      <p:sp>
        <p:nvSpPr>
          <p:cNvPr name="Freeform 7" id="7"/>
          <p:cNvSpPr/>
          <p:nvPr/>
        </p:nvSpPr>
        <p:spPr>
          <a:xfrm flipH="false" flipV="false" rot="1973881">
            <a:off x="12900123" y="-2002221"/>
            <a:ext cx="3014903" cy="3387087"/>
          </a:xfrm>
          <a:custGeom>
            <a:avLst/>
            <a:gdLst/>
            <a:ahLst/>
            <a:cxnLst/>
            <a:rect r="r" b="b" t="t" l="l"/>
            <a:pathLst>
              <a:path h="3387087" w="3014903">
                <a:moveTo>
                  <a:pt x="0" y="0"/>
                </a:moveTo>
                <a:lnTo>
                  <a:pt x="3014903" y="0"/>
                </a:lnTo>
                <a:lnTo>
                  <a:pt x="3014903" y="3387087"/>
                </a:lnTo>
                <a:lnTo>
                  <a:pt x="0" y="3387087"/>
                </a:lnTo>
                <a:lnTo>
                  <a:pt x="0" y="0"/>
                </a:lnTo>
                <a:close/>
              </a:path>
            </a:pathLst>
          </a:custGeom>
          <a:blipFill>
            <a:blip r:embed="rId3"/>
            <a:stretch>
              <a:fillRect l="0" t="0" r="-12485" b="0"/>
            </a:stretch>
          </a:blipFill>
        </p:spPr>
      </p:sp>
      <p:sp>
        <p:nvSpPr>
          <p:cNvPr name="TextBox 8" id="8"/>
          <p:cNvSpPr txBox="true"/>
          <p:nvPr/>
        </p:nvSpPr>
        <p:spPr>
          <a:xfrm rot="0">
            <a:off x="5741564" y="1156536"/>
            <a:ext cx="9970164" cy="1127859"/>
          </a:xfrm>
          <a:prstGeom prst="rect">
            <a:avLst/>
          </a:prstGeom>
        </p:spPr>
        <p:txBody>
          <a:bodyPr anchor="t" rtlCol="false" tIns="0" lIns="0" bIns="0" rIns="0">
            <a:spAutoFit/>
          </a:bodyPr>
          <a:lstStyle/>
          <a:p>
            <a:pPr algn="l" marL="0" indent="0" lvl="0">
              <a:lnSpc>
                <a:spcPts val="9119"/>
              </a:lnSpc>
              <a:spcBef>
                <a:spcPct val="0"/>
              </a:spcBef>
            </a:pPr>
            <a:r>
              <a:rPr lang="en-US" sz="6560">
                <a:solidFill>
                  <a:srgbClr val="048AFF"/>
                </a:solidFill>
                <a:latin typeface="Now Bold"/>
              </a:rPr>
              <a:t>App interface for user</a:t>
            </a:r>
          </a:p>
        </p:txBody>
      </p:sp>
      <p:sp>
        <p:nvSpPr>
          <p:cNvPr name="TextBox 9" id="9"/>
          <p:cNvSpPr txBox="true"/>
          <p:nvPr/>
        </p:nvSpPr>
        <p:spPr>
          <a:xfrm rot="0">
            <a:off x="6719414" y="3343784"/>
            <a:ext cx="7413514" cy="733957"/>
          </a:xfrm>
          <a:prstGeom prst="rect">
            <a:avLst/>
          </a:prstGeom>
        </p:spPr>
        <p:txBody>
          <a:bodyPr anchor="t" rtlCol="false" tIns="0" lIns="0" bIns="0" rIns="0">
            <a:spAutoFit/>
          </a:bodyPr>
          <a:lstStyle/>
          <a:p>
            <a:pPr algn="l">
              <a:lnSpc>
                <a:spcPts val="2976"/>
              </a:lnSpc>
            </a:pPr>
            <a:r>
              <a:rPr lang="en-US" sz="2038">
                <a:solidFill>
                  <a:srgbClr val="FFFFFF"/>
                </a:solidFill>
                <a:latin typeface="DM Sans"/>
              </a:rPr>
              <a:t>This button is useful because it allows us to determine whether the user is traveling inside the bus or outside the bus</a:t>
            </a:r>
          </a:p>
        </p:txBody>
      </p:sp>
      <p:sp>
        <p:nvSpPr>
          <p:cNvPr name="TextBox 10" id="10"/>
          <p:cNvSpPr txBox="true"/>
          <p:nvPr/>
        </p:nvSpPr>
        <p:spPr>
          <a:xfrm rot="0">
            <a:off x="6719414" y="2801890"/>
            <a:ext cx="5502605" cy="454034"/>
          </a:xfrm>
          <a:prstGeom prst="rect">
            <a:avLst/>
          </a:prstGeom>
        </p:spPr>
        <p:txBody>
          <a:bodyPr anchor="t" rtlCol="false" tIns="0" lIns="0" bIns="0" rIns="0">
            <a:spAutoFit/>
          </a:bodyPr>
          <a:lstStyle/>
          <a:p>
            <a:pPr algn="l">
              <a:lnSpc>
                <a:spcPts val="3629"/>
              </a:lnSpc>
            </a:pPr>
            <a:r>
              <a:rPr lang="en-US" sz="2611">
                <a:solidFill>
                  <a:srgbClr val="B100E8"/>
                </a:solidFill>
                <a:latin typeface="Now Bold"/>
              </a:rPr>
              <a:t>inside bus or outside bus</a:t>
            </a:r>
          </a:p>
        </p:txBody>
      </p:sp>
      <p:grpSp>
        <p:nvGrpSpPr>
          <p:cNvPr name="Group 11" id="11"/>
          <p:cNvGrpSpPr/>
          <p:nvPr/>
        </p:nvGrpSpPr>
        <p:grpSpPr>
          <a:xfrm rot="0">
            <a:off x="4803638" y="2855895"/>
            <a:ext cx="1757360" cy="175736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48AFF">
                    <a:alpha val="100000"/>
                  </a:srgbClr>
                </a:gs>
                <a:gs pos="100000">
                  <a:srgbClr val="B100E8">
                    <a:alpha val="100000"/>
                  </a:srgbClr>
                </a:gs>
              </a:gsLst>
              <a:path path="circle">
                <a:fillToRect l="0" r="100000" t="0" b="100000"/>
              </a:path>
              <a:tileRect r="0" l="-100000" b="0" t="-100000"/>
            </a:gradFill>
            <a:ln w="190500" cap="sq">
              <a:solidFill>
                <a:srgbClr val="04001E"/>
              </a:solidFill>
              <a:prstDash val="solid"/>
              <a:miter/>
            </a:ln>
          </p:spPr>
        </p:sp>
        <p:sp>
          <p:nvSpPr>
            <p:cNvPr name="TextBox 13" id="13"/>
            <p:cNvSpPr txBox="true"/>
            <p:nvPr/>
          </p:nvSpPr>
          <p:spPr>
            <a:xfrm>
              <a:off x="76200" y="66675"/>
              <a:ext cx="660400" cy="669925"/>
            </a:xfrm>
            <a:prstGeom prst="rect">
              <a:avLst/>
            </a:prstGeom>
          </p:spPr>
          <p:txBody>
            <a:bodyPr anchor="ctr" rtlCol="false" tIns="50800" lIns="50800" bIns="50800" rIns="50800"/>
            <a:lstStyle/>
            <a:p>
              <a:pPr algn="ctr">
                <a:lnSpc>
                  <a:spcPts val="3131"/>
                </a:lnSpc>
              </a:pPr>
            </a:p>
          </p:txBody>
        </p:sp>
      </p:grpSp>
      <p:sp>
        <p:nvSpPr>
          <p:cNvPr name="Freeform 14" id="14"/>
          <p:cNvSpPr/>
          <p:nvPr/>
        </p:nvSpPr>
        <p:spPr>
          <a:xfrm flipH="false" flipV="false" rot="0">
            <a:off x="5290603" y="3329683"/>
            <a:ext cx="783430" cy="816073"/>
          </a:xfrm>
          <a:custGeom>
            <a:avLst/>
            <a:gdLst/>
            <a:ahLst/>
            <a:cxnLst/>
            <a:rect r="r" b="b" t="t" l="l"/>
            <a:pathLst>
              <a:path h="816073" w="783430">
                <a:moveTo>
                  <a:pt x="0" y="0"/>
                </a:moveTo>
                <a:lnTo>
                  <a:pt x="783430" y="0"/>
                </a:lnTo>
                <a:lnTo>
                  <a:pt x="783430" y="816073"/>
                </a:lnTo>
                <a:lnTo>
                  <a:pt x="0" y="8160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5" id="15"/>
          <p:cNvGrpSpPr/>
          <p:nvPr/>
        </p:nvGrpSpPr>
        <p:grpSpPr>
          <a:xfrm rot="0">
            <a:off x="4803638" y="5181410"/>
            <a:ext cx="1757360" cy="175736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48AFF">
                    <a:alpha val="100000"/>
                  </a:srgbClr>
                </a:gs>
                <a:gs pos="100000">
                  <a:srgbClr val="B100E8">
                    <a:alpha val="100000"/>
                  </a:srgbClr>
                </a:gs>
              </a:gsLst>
              <a:path path="circle">
                <a:fillToRect l="0" r="100000" t="0" b="100000"/>
              </a:path>
              <a:tileRect r="0" l="-100000" b="0" t="-100000"/>
            </a:gradFill>
            <a:ln w="190500" cap="sq">
              <a:solidFill>
                <a:srgbClr val="04001E"/>
              </a:solidFill>
              <a:prstDash val="solid"/>
              <a:miter/>
            </a:ln>
          </p:spPr>
        </p:sp>
        <p:sp>
          <p:nvSpPr>
            <p:cNvPr name="TextBox 17" id="17"/>
            <p:cNvSpPr txBox="true"/>
            <p:nvPr/>
          </p:nvSpPr>
          <p:spPr>
            <a:xfrm>
              <a:off x="76200" y="66675"/>
              <a:ext cx="660400" cy="669925"/>
            </a:xfrm>
            <a:prstGeom prst="rect">
              <a:avLst/>
            </a:prstGeom>
          </p:spPr>
          <p:txBody>
            <a:bodyPr anchor="ctr" rtlCol="false" tIns="50800" lIns="50800" bIns="50800" rIns="50800"/>
            <a:lstStyle/>
            <a:p>
              <a:pPr algn="ctr">
                <a:lnSpc>
                  <a:spcPts val="3131"/>
                </a:lnSpc>
              </a:pPr>
            </a:p>
          </p:txBody>
        </p:sp>
      </p:grpSp>
      <p:sp>
        <p:nvSpPr>
          <p:cNvPr name="TextBox 18" id="18"/>
          <p:cNvSpPr txBox="true"/>
          <p:nvPr/>
        </p:nvSpPr>
        <p:spPr>
          <a:xfrm rot="0">
            <a:off x="6719414" y="5762754"/>
            <a:ext cx="7194808" cy="1079416"/>
          </a:xfrm>
          <a:prstGeom prst="rect">
            <a:avLst/>
          </a:prstGeom>
        </p:spPr>
        <p:txBody>
          <a:bodyPr anchor="t" rtlCol="false" tIns="0" lIns="0" bIns="0" rIns="0">
            <a:spAutoFit/>
          </a:bodyPr>
          <a:lstStyle/>
          <a:p>
            <a:pPr algn="l">
              <a:lnSpc>
                <a:spcPts val="2888"/>
              </a:lnSpc>
            </a:pPr>
            <a:r>
              <a:rPr lang="en-US" sz="1978">
                <a:solidFill>
                  <a:srgbClr val="FFFFFF"/>
                </a:solidFill>
                <a:latin typeface="DM Sans"/>
              </a:rPr>
              <a:t>iIf the user is inside the bus, the application will display the current route of the bus and the next stop. If the user is outside the bus, it will show the selected route.</a:t>
            </a:r>
          </a:p>
        </p:txBody>
      </p:sp>
      <p:sp>
        <p:nvSpPr>
          <p:cNvPr name="TextBox 19" id="19"/>
          <p:cNvSpPr txBox="true"/>
          <p:nvPr/>
        </p:nvSpPr>
        <p:spPr>
          <a:xfrm rot="0">
            <a:off x="6719414" y="5220860"/>
            <a:ext cx="3054282" cy="454034"/>
          </a:xfrm>
          <a:prstGeom prst="rect">
            <a:avLst/>
          </a:prstGeom>
        </p:spPr>
        <p:txBody>
          <a:bodyPr anchor="t" rtlCol="false" tIns="0" lIns="0" bIns="0" rIns="0">
            <a:spAutoFit/>
          </a:bodyPr>
          <a:lstStyle/>
          <a:p>
            <a:pPr algn="l">
              <a:lnSpc>
                <a:spcPts val="3629"/>
              </a:lnSpc>
            </a:pPr>
            <a:r>
              <a:rPr lang="en-US" sz="2611">
                <a:solidFill>
                  <a:srgbClr val="B100E8"/>
                </a:solidFill>
                <a:latin typeface="Now Bold"/>
              </a:rPr>
              <a:t>list of the routes</a:t>
            </a:r>
          </a:p>
        </p:txBody>
      </p:sp>
      <p:sp>
        <p:nvSpPr>
          <p:cNvPr name="Freeform 20" id="20"/>
          <p:cNvSpPr/>
          <p:nvPr/>
        </p:nvSpPr>
        <p:spPr>
          <a:xfrm flipH="false" flipV="false" rot="0">
            <a:off x="5193633" y="5634304"/>
            <a:ext cx="977370" cy="883187"/>
          </a:xfrm>
          <a:custGeom>
            <a:avLst/>
            <a:gdLst/>
            <a:ahLst/>
            <a:cxnLst/>
            <a:rect r="r" b="b" t="t" l="l"/>
            <a:pathLst>
              <a:path h="883187" w="977370">
                <a:moveTo>
                  <a:pt x="0" y="0"/>
                </a:moveTo>
                <a:lnTo>
                  <a:pt x="977370" y="0"/>
                </a:lnTo>
                <a:lnTo>
                  <a:pt x="977370" y="883187"/>
                </a:lnTo>
                <a:lnTo>
                  <a:pt x="0" y="88318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1" id="21"/>
          <p:cNvGrpSpPr/>
          <p:nvPr/>
        </p:nvGrpSpPr>
        <p:grpSpPr>
          <a:xfrm rot="0">
            <a:off x="4803638" y="7500940"/>
            <a:ext cx="1757360" cy="1757360"/>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48AFF">
                    <a:alpha val="100000"/>
                  </a:srgbClr>
                </a:gs>
                <a:gs pos="100000">
                  <a:srgbClr val="B100E8">
                    <a:alpha val="100000"/>
                  </a:srgbClr>
                </a:gs>
              </a:gsLst>
              <a:path path="circle">
                <a:fillToRect l="0" r="100000" t="0" b="100000"/>
              </a:path>
              <a:tileRect r="0" l="-100000" b="0" t="-100000"/>
            </a:gradFill>
            <a:ln w="190500" cap="sq">
              <a:solidFill>
                <a:srgbClr val="04001E"/>
              </a:solidFill>
              <a:prstDash val="solid"/>
              <a:miter/>
            </a:ln>
          </p:spPr>
        </p:sp>
        <p:sp>
          <p:nvSpPr>
            <p:cNvPr name="TextBox 23" id="23"/>
            <p:cNvSpPr txBox="true"/>
            <p:nvPr/>
          </p:nvSpPr>
          <p:spPr>
            <a:xfrm>
              <a:off x="76200" y="66675"/>
              <a:ext cx="660400" cy="669925"/>
            </a:xfrm>
            <a:prstGeom prst="rect">
              <a:avLst/>
            </a:prstGeom>
          </p:spPr>
          <p:txBody>
            <a:bodyPr anchor="ctr" rtlCol="false" tIns="50800" lIns="50800" bIns="50800" rIns="50800"/>
            <a:lstStyle/>
            <a:p>
              <a:pPr algn="ctr">
                <a:lnSpc>
                  <a:spcPts val="3131"/>
                </a:lnSpc>
              </a:pPr>
            </a:p>
          </p:txBody>
        </p:sp>
      </p:grpSp>
      <p:sp>
        <p:nvSpPr>
          <p:cNvPr name="Freeform 24" id="24"/>
          <p:cNvSpPr/>
          <p:nvPr/>
        </p:nvSpPr>
        <p:spPr>
          <a:xfrm flipH="false" flipV="false" rot="0">
            <a:off x="5317726" y="7851920"/>
            <a:ext cx="729185" cy="1055399"/>
          </a:xfrm>
          <a:custGeom>
            <a:avLst/>
            <a:gdLst/>
            <a:ahLst/>
            <a:cxnLst/>
            <a:rect r="r" b="b" t="t" l="l"/>
            <a:pathLst>
              <a:path h="1055399" w="729185">
                <a:moveTo>
                  <a:pt x="0" y="0"/>
                </a:moveTo>
                <a:lnTo>
                  <a:pt x="729184" y="0"/>
                </a:lnTo>
                <a:lnTo>
                  <a:pt x="729184" y="1055400"/>
                </a:lnTo>
                <a:lnTo>
                  <a:pt x="0" y="10554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5" id="25"/>
          <p:cNvSpPr txBox="true"/>
          <p:nvPr/>
        </p:nvSpPr>
        <p:spPr>
          <a:xfrm rot="0">
            <a:off x="6719414" y="8082284"/>
            <a:ext cx="7194808" cy="1079416"/>
          </a:xfrm>
          <a:prstGeom prst="rect">
            <a:avLst/>
          </a:prstGeom>
        </p:spPr>
        <p:txBody>
          <a:bodyPr anchor="t" rtlCol="false" tIns="0" lIns="0" bIns="0" rIns="0">
            <a:spAutoFit/>
          </a:bodyPr>
          <a:lstStyle/>
          <a:p>
            <a:pPr algn="l">
              <a:lnSpc>
                <a:spcPts val="2888"/>
              </a:lnSpc>
            </a:pPr>
            <a:r>
              <a:rPr lang="en-US" sz="1978">
                <a:solidFill>
                  <a:srgbClr val="FFFFFF"/>
                </a:solidFill>
                <a:latin typeface="DM Sans"/>
              </a:rPr>
              <a:t>All stations are shown on the map, and users can find the distance between their current location and each station on Google Maps</a:t>
            </a:r>
          </a:p>
        </p:txBody>
      </p:sp>
      <p:sp>
        <p:nvSpPr>
          <p:cNvPr name="TextBox 26" id="26"/>
          <p:cNvSpPr txBox="true"/>
          <p:nvPr/>
        </p:nvSpPr>
        <p:spPr>
          <a:xfrm rot="0">
            <a:off x="6719414" y="7540390"/>
            <a:ext cx="3054282" cy="454034"/>
          </a:xfrm>
          <a:prstGeom prst="rect">
            <a:avLst/>
          </a:prstGeom>
        </p:spPr>
        <p:txBody>
          <a:bodyPr anchor="t" rtlCol="false" tIns="0" lIns="0" bIns="0" rIns="0">
            <a:spAutoFit/>
          </a:bodyPr>
          <a:lstStyle/>
          <a:p>
            <a:pPr algn="l">
              <a:lnSpc>
                <a:spcPts val="3629"/>
              </a:lnSpc>
            </a:pPr>
            <a:r>
              <a:rPr lang="en-US" sz="2611">
                <a:solidFill>
                  <a:srgbClr val="B100E8"/>
                </a:solidFill>
                <a:latin typeface="Now Bold"/>
              </a:rPr>
              <a:t>Map</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p:nvPr/>
        </p:nvGrpSpPr>
        <p:grpSpPr>
          <a:xfrm rot="0">
            <a:off x="3755367" y="3203208"/>
            <a:ext cx="1875852" cy="1875852"/>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48AFF">
                    <a:alpha val="100000"/>
                  </a:srgbClr>
                </a:gs>
                <a:gs pos="100000">
                  <a:srgbClr val="B100E8">
                    <a:alpha val="100000"/>
                  </a:srgbClr>
                </a:gs>
              </a:gsLst>
              <a:path path="circle">
                <a:fillToRect l="0" r="100000" t="0" b="100000"/>
              </a:path>
              <a:tileRect r="0" l="-100000" b="0" t="-100000"/>
            </a:gradFill>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3131"/>
                </a:lnSpc>
              </a:pPr>
            </a:p>
          </p:txBody>
        </p:sp>
      </p:grpSp>
      <p:sp>
        <p:nvSpPr>
          <p:cNvPr name="AutoShape 6" id="6"/>
          <p:cNvSpPr/>
          <p:nvPr/>
        </p:nvSpPr>
        <p:spPr>
          <a:xfrm flipH="true">
            <a:off x="5631218" y="4141133"/>
            <a:ext cx="5934198" cy="0"/>
          </a:xfrm>
          <a:prstGeom prst="line">
            <a:avLst/>
          </a:prstGeom>
          <a:ln cap="rnd" w="66675">
            <a:solidFill>
              <a:srgbClr val="3652DD"/>
            </a:solidFill>
            <a:prstDash val="sysDot"/>
            <a:headEnd type="none" len="sm" w="sm"/>
            <a:tailEnd type="none" len="sm" w="sm"/>
          </a:ln>
        </p:spPr>
      </p:sp>
      <p:grpSp>
        <p:nvGrpSpPr>
          <p:cNvPr name="Group 7" id="7"/>
          <p:cNvGrpSpPr/>
          <p:nvPr/>
        </p:nvGrpSpPr>
        <p:grpSpPr>
          <a:xfrm rot="0">
            <a:off x="6722347" y="3203208"/>
            <a:ext cx="1875852" cy="1875852"/>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48AFF">
                    <a:alpha val="100000"/>
                  </a:srgbClr>
                </a:gs>
                <a:gs pos="100000">
                  <a:srgbClr val="B100E8">
                    <a:alpha val="100000"/>
                  </a:srgbClr>
                </a:gs>
              </a:gsLst>
              <a:path path="circle">
                <a:fillToRect l="0" r="100000" t="0" b="100000"/>
              </a:path>
              <a:tileRect r="0" l="-100000" b="0" t="-100000"/>
            </a:gradFill>
          </p:spPr>
        </p:sp>
        <p:sp>
          <p:nvSpPr>
            <p:cNvPr name="TextBox 9" id="9"/>
            <p:cNvSpPr txBox="true"/>
            <p:nvPr/>
          </p:nvSpPr>
          <p:spPr>
            <a:xfrm>
              <a:off x="76200" y="66675"/>
              <a:ext cx="660400" cy="669925"/>
            </a:xfrm>
            <a:prstGeom prst="rect">
              <a:avLst/>
            </a:prstGeom>
          </p:spPr>
          <p:txBody>
            <a:bodyPr anchor="ctr" rtlCol="false" tIns="50800" lIns="50800" bIns="50800" rIns="50800"/>
            <a:lstStyle/>
            <a:p>
              <a:pPr algn="ctr">
                <a:lnSpc>
                  <a:spcPts val="3131"/>
                </a:lnSpc>
              </a:pPr>
            </a:p>
          </p:txBody>
        </p:sp>
      </p:grpSp>
      <p:grpSp>
        <p:nvGrpSpPr>
          <p:cNvPr name="Group 10" id="10"/>
          <p:cNvGrpSpPr/>
          <p:nvPr/>
        </p:nvGrpSpPr>
        <p:grpSpPr>
          <a:xfrm rot="0">
            <a:off x="9689564" y="3203208"/>
            <a:ext cx="1875852" cy="1875852"/>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048AFF">
                    <a:alpha val="100000"/>
                  </a:srgbClr>
                </a:gs>
                <a:gs pos="100000">
                  <a:srgbClr val="B100E8">
                    <a:alpha val="100000"/>
                  </a:srgbClr>
                </a:gs>
              </a:gsLst>
              <a:path path="circle">
                <a:fillToRect l="0" r="100000" t="0" b="100000"/>
              </a:path>
              <a:tileRect r="0" l="-100000" b="0" t="-100000"/>
            </a:gradFill>
          </p:spPr>
        </p:sp>
        <p:sp>
          <p:nvSpPr>
            <p:cNvPr name="TextBox 12" id="12"/>
            <p:cNvSpPr txBox="true"/>
            <p:nvPr/>
          </p:nvSpPr>
          <p:spPr>
            <a:xfrm>
              <a:off x="76200" y="66675"/>
              <a:ext cx="660400" cy="669925"/>
            </a:xfrm>
            <a:prstGeom prst="rect">
              <a:avLst/>
            </a:prstGeom>
          </p:spPr>
          <p:txBody>
            <a:bodyPr anchor="ctr" rtlCol="false" tIns="50800" lIns="50800" bIns="50800" rIns="50800"/>
            <a:lstStyle/>
            <a:p>
              <a:pPr algn="ctr">
                <a:lnSpc>
                  <a:spcPts val="3131"/>
                </a:lnSpc>
              </a:pPr>
            </a:p>
          </p:txBody>
        </p:sp>
      </p:grpSp>
      <p:sp>
        <p:nvSpPr>
          <p:cNvPr name="Freeform 13" id="13"/>
          <p:cNvSpPr/>
          <p:nvPr/>
        </p:nvSpPr>
        <p:spPr>
          <a:xfrm flipH="false" flipV="false" rot="0">
            <a:off x="4175390" y="3424358"/>
            <a:ext cx="981744" cy="1249906"/>
          </a:xfrm>
          <a:custGeom>
            <a:avLst/>
            <a:gdLst/>
            <a:ahLst/>
            <a:cxnLst/>
            <a:rect r="r" b="b" t="t" l="l"/>
            <a:pathLst>
              <a:path h="1249906" w="981744">
                <a:moveTo>
                  <a:pt x="0" y="0"/>
                </a:moveTo>
                <a:lnTo>
                  <a:pt x="981744" y="0"/>
                </a:lnTo>
                <a:lnTo>
                  <a:pt x="981744" y="1249906"/>
                </a:lnTo>
                <a:lnTo>
                  <a:pt x="0" y="124990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7086689" y="3490212"/>
            <a:ext cx="1147405" cy="1118198"/>
          </a:xfrm>
          <a:custGeom>
            <a:avLst/>
            <a:gdLst/>
            <a:ahLst/>
            <a:cxnLst/>
            <a:rect r="r" b="b" t="t" l="l"/>
            <a:pathLst>
              <a:path h="1118198" w="1147405">
                <a:moveTo>
                  <a:pt x="0" y="0"/>
                </a:moveTo>
                <a:lnTo>
                  <a:pt x="1147405" y="0"/>
                </a:lnTo>
                <a:lnTo>
                  <a:pt x="1147405" y="1118198"/>
                </a:lnTo>
                <a:lnTo>
                  <a:pt x="0" y="11181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0">
            <a:off x="10096007" y="3600162"/>
            <a:ext cx="1062966" cy="1153119"/>
          </a:xfrm>
          <a:custGeom>
            <a:avLst/>
            <a:gdLst/>
            <a:ahLst/>
            <a:cxnLst/>
            <a:rect r="r" b="b" t="t" l="l"/>
            <a:pathLst>
              <a:path h="1153119" w="1062966">
                <a:moveTo>
                  <a:pt x="0" y="0"/>
                </a:moveTo>
                <a:lnTo>
                  <a:pt x="1062966" y="0"/>
                </a:lnTo>
                <a:lnTo>
                  <a:pt x="1062966" y="1153119"/>
                </a:lnTo>
                <a:lnTo>
                  <a:pt x="0" y="11531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6" id="16"/>
          <p:cNvSpPr txBox="true"/>
          <p:nvPr/>
        </p:nvSpPr>
        <p:spPr>
          <a:xfrm rot="0">
            <a:off x="4835354" y="1712322"/>
            <a:ext cx="8617293" cy="834734"/>
          </a:xfrm>
          <a:prstGeom prst="rect">
            <a:avLst/>
          </a:prstGeom>
        </p:spPr>
        <p:txBody>
          <a:bodyPr anchor="t" rtlCol="false" tIns="0" lIns="0" bIns="0" rIns="0">
            <a:spAutoFit/>
          </a:bodyPr>
          <a:lstStyle/>
          <a:p>
            <a:pPr algn="ctr">
              <a:lnSpc>
                <a:spcPts val="6762"/>
              </a:lnSpc>
            </a:pPr>
            <a:r>
              <a:rPr lang="en-US" sz="4865">
                <a:solidFill>
                  <a:srgbClr val="048AFF"/>
                </a:solidFill>
                <a:latin typeface="Now Bold"/>
              </a:rPr>
              <a:t>Services</a:t>
            </a:r>
          </a:p>
        </p:txBody>
      </p:sp>
      <p:sp>
        <p:nvSpPr>
          <p:cNvPr name="TextBox 17" id="17"/>
          <p:cNvSpPr txBox="true"/>
          <p:nvPr/>
        </p:nvSpPr>
        <p:spPr>
          <a:xfrm rot="0">
            <a:off x="3531156" y="6206372"/>
            <a:ext cx="2270212" cy="1415806"/>
          </a:xfrm>
          <a:prstGeom prst="rect">
            <a:avLst/>
          </a:prstGeom>
        </p:spPr>
        <p:txBody>
          <a:bodyPr anchor="t" rtlCol="false" tIns="0" lIns="0" bIns="0" rIns="0">
            <a:spAutoFit/>
          </a:bodyPr>
          <a:lstStyle/>
          <a:p>
            <a:pPr algn="ctr">
              <a:lnSpc>
                <a:spcPts val="2256"/>
              </a:lnSpc>
            </a:pPr>
            <a:r>
              <a:rPr lang="en-US" sz="1545">
                <a:solidFill>
                  <a:srgbClr val="FFFFFF"/>
                </a:solidFill>
                <a:latin typeface="DM Sans"/>
              </a:rPr>
              <a:t>Use this class to request location updates and manage the device's location providers (GPS, network-based, etc.).</a:t>
            </a:r>
          </a:p>
        </p:txBody>
      </p:sp>
      <p:sp>
        <p:nvSpPr>
          <p:cNvPr name="TextBox 18" id="18"/>
          <p:cNvSpPr txBox="true"/>
          <p:nvPr/>
        </p:nvSpPr>
        <p:spPr>
          <a:xfrm rot="0">
            <a:off x="2874497" y="5498035"/>
            <a:ext cx="3302404" cy="453474"/>
          </a:xfrm>
          <a:prstGeom prst="rect">
            <a:avLst/>
          </a:prstGeom>
        </p:spPr>
        <p:txBody>
          <a:bodyPr anchor="t" rtlCol="false" tIns="0" lIns="0" bIns="0" rIns="0">
            <a:spAutoFit/>
          </a:bodyPr>
          <a:lstStyle/>
          <a:p>
            <a:pPr algn="ctr">
              <a:lnSpc>
                <a:spcPts val="3624"/>
              </a:lnSpc>
            </a:pPr>
            <a:r>
              <a:rPr lang="en-US" sz="2607">
                <a:solidFill>
                  <a:srgbClr val="B100E8"/>
                </a:solidFill>
                <a:latin typeface="Now Bold"/>
              </a:rPr>
              <a:t>LocationManager</a:t>
            </a:r>
          </a:p>
        </p:txBody>
      </p:sp>
      <p:sp>
        <p:nvSpPr>
          <p:cNvPr name="TextBox 19" id="19"/>
          <p:cNvSpPr txBox="true"/>
          <p:nvPr/>
        </p:nvSpPr>
        <p:spPr>
          <a:xfrm rot="0">
            <a:off x="6525286" y="6206372"/>
            <a:ext cx="2270212" cy="3416056"/>
          </a:xfrm>
          <a:prstGeom prst="rect">
            <a:avLst/>
          </a:prstGeom>
        </p:spPr>
        <p:txBody>
          <a:bodyPr anchor="t" rtlCol="false" tIns="0" lIns="0" bIns="0" rIns="0">
            <a:spAutoFit/>
          </a:bodyPr>
          <a:lstStyle/>
          <a:p>
            <a:pPr algn="ctr">
              <a:lnSpc>
                <a:spcPts val="2256"/>
              </a:lnSpc>
            </a:pPr>
            <a:r>
              <a:rPr lang="en-US" sz="1545">
                <a:solidFill>
                  <a:srgbClr val="FFFFFF"/>
                </a:solidFill>
                <a:latin typeface="DM Sans"/>
              </a:rPr>
              <a:t>To find the current time of the user in an Android application, you can use the System.currentTimeMillis() method. You can then manipulate this time as needed to display it in various formats or perform time-related calculations.</a:t>
            </a:r>
          </a:p>
        </p:txBody>
      </p:sp>
      <p:sp>
        <p:nvSpPr>
          <p:cNvPr name="TextBox 20" id="20"/>
          <p:cNvSpPr txBox="true"/>
          <p:nvPr/>
        </p:nvSpPr>
        <p:spPr>
          <a:xfrm rot="0">
            <a:off x="6176901" y="5447474"/>
            <a:ext cx="2967099" cy="504035"/>
          </a:xfrm>
          <a:prstGeom prst="rect">
            <a:avLst/>
          </a:prstGeom>
        </p:spPr>
        <p:txBody>
          <a:bodyPr anchor="t" rtlCol="false" tIns="0" lIns="0" bIns="0" rIns="0">
            <a:spAutoFit/>
          </a:bodyPr>
          <a:lstStyle/>
          <a:p>
            <a:pPr algn="ctr">
              <a:lnSpc>
                <a:spcPts val="4174"/>
              </a:lnSpc>
            </a:pPr>
            <a:r>
              <a:rPr lang="en-US" sz="3002">
                <a:solidFill>
                  <a:srgbClr val="B100E8"/>
                </a:solidFill>
                <a:latin typeface="Now Bold"/>
              </a:rPr>
              <a:t>current time</a:t>
            </a:r>
          </a:p>
        </p:txBody>
      </p:sp>
      <p:sp>
        <p:nvSpPr>
          <p:cNvPr name="TextBox 21" id="21"/>
          <p:cNvSpPr txBox="true"/>
          <p:nvPr/>
        </p:nvSpPr>
        <p:spPr>
          <a:xfrm rot="0">
            <a:off x="9492384" y="6206372"/>
            <a:ext cx="2703756" cy="3701806"/>
          </a:xfrm>
          <a:prstGeom prst="rect">
            <a:avLst/>
          </a:prstGeom>
        </p:spPr>
        <p:txBody>
          <a:bodyPr anchor="t" rtlCol="false" tIns="0" lIns="0" bIns="0" rIns="0">
            <a:spAutoFit/>
          </a:bodyPr>
          <a:lstStyle/>
          <a:p>
            <a:pPr algn="ctr">
              <a:lnSpc>
                <a:spcPts val="2256"/>
              </a:lnSpc>
            </a:pPr>
            <a:r>
              <a:rPr lang="en-US" sz="1545">
                <a:solidFill>
                  <a:srgbClr val="FFFFFF"/>
                </a:solidFill>
                <a:latin typeface="DM Sans"/>
              </a:rPr>
              <a:t>The primary service for integrating Google Maps into an Android app is the Google Maps Android API, offering features like map display, markers, polylines, and location services. It includes classes like GoogleMap, MapFragment, Marker, PolylineOptions, and CameraUpdate for map customization and interaction.</a:t>
            </a:r>
          </a:p>
        </p:txBody>
      </p:sp>
      <p:sp>
        <p:nvSpPr>
          <p:cNvPr name="TextBox 22" id="22"/>
          <p:cNvSpPr txBox="true"/>
          <p:nvPr/>
        </p:nvSpPr>
        <p:spPr>
          <a:xfrm rot="0">
            <a:off x="9144000" y="5498035"/>
            <a:ext cx="3052141" cy="477813"/>
          </a:xfrm>
          <a:prstGeom prst="rect">
            <a:avLst/>
          </a:prstGeom>
        </p:spPr>
        <p:txBody>
          <a:bodyPr anchor="t" rtlCol="false" tIns="0" lIns="0" bIns="0" rIns="0">
            <a:spAutoFit/>
          </a:bodyPr>
          <a:lstStyle/>
          <a:p>
            <a:pPr algn="ctr">
              <a:lnSpc>
                <a:spcPts val="3847"/>
              </a:lnSpc>
            </a:pPr>
            <a:r>
              <a:rPr lang="en-US" sz="2767">
                <a:solidFill>
                  <a:srgbClr val="B100E8"/>
                </a:solidFill>
                <a:latin typeface="Now Bold"/>
              </a:rPr>
              <a:t>google map</a:t>
            </a:r>
          </a:p>
        </p:txBody>
      </p:sp>
      <p:sp>
        <p:nvSpPr>
          <p:cNvPr name="Freeform 23" id="23"/>
          <p:cNvSpPr/>
          <p:nvPr/>
        </p:nvSpPr>
        <p:spPr>
          <a:xfrm flipH="false" flipV="false" rot="0">
            <a:off x="-3829643" y="6244472"/>
            <a:ext cx="8403333" cy="8403333"/>
          </a:xfrm>
          <a:custGeom>
            <a:avLst/>
            <a:gdLst/>
            <a:ahLst/>
            <a:cxnLst/>
            <a:rect r="r" b="b" t="t" l="l"/>
            <a:pathLst>
              <a:path h="8403333" w="8403333">
                <a:moveTo>
                  <a:pt x="0" y="0"/>
                </a:moveTo>
                <a:lnTo>
                  <a:pt x="8403332" y="0"/>
                </a:lnTo>
                <a:lnTo>
                  <a:pt x="8403332" y="8403333"/>
                </a:lnTo>
                <a:lnTo>
                  <a:pt x="0" y="840333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4" id="24"/>
          <p:cNvSpPr/>
          <p:nvPr/>
        </p:nvSpPr>
        <p:spPr>
          <a:xfrm flipH="false" flipV="false" rot="0">
            <a:off x="13199707" y="-5722705"/>
            <a:ext cx="11285591" cy="11285591"/>
          </a:xfrm>
          <a:custGeom>
            <a:avLst/>
            <a:gdLst/>
            <a:ahLst/>
            <a:cxnLst/>
            <a:rect r="r" b="b" t="t" l="l"/>
            <a:pathLst>
              <a:path h="11285591" w="11285591">
                <a:moveTo>
                  <a:pt x="0" y="0"/>
                </a:moveTo>
                <a:lnTo>
                  <a:pt x="11285591" y="0"/>
                </a:lnTo>
                <a:lnTo>
                  <a:pt x="11285591" y="11285591"/>
                </a:lnTo>
                <a:lnTo>
                  <a:pt x="0" y="1128559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38888" r="0" b="-38888"/>
            </a:stretch>
          </a:blipFill>
        </p:spPr>
      </p:sp>
      <p:grpSp>
        <p:nvGrpSpPr>
          <p:cNvPr name="Group 3" id="3"/>
          <p:cNvGrpSpPr/>
          <p:nvPr/>
        </p:nvGrpSpPr>
        <p:grpSpPr>
          <a:xfrm rot="0">
            <a:off x="4165301" y="1028700"/>
            <a:ext cx="9957398" cy="2018993"/>
            <a:chOff x="0" y="0"/>
            <a:chExt cx="2622525" cy="531751"/>
          </a:xfrm>
        </p:grpSpPr>
        <p:sp>
          <p:nvSpPr>
            <p:cNvPr name="Freeform 4" id="4"/>
            <p:cNvSpPr/>
            <p:nvPr/>
          </p:nvSpPr>
          <p:spPr>
            <a:xfrm flipH="false" flipV="false" rot="0">
              <a:off x="0" y="0"/>
              <a:ext cx="2622525" cy="531751"/>
            </a:xfrm>
            <a:custGeom>
              <a:avLst/>
              <a:gdLst/>
              <a:ahLst/>
              <a:cxnLst/>
              <a:rect r="r" b="b" t="t" l="l"/>
              <a:pathLst>
                <a:path h="531751" w="2622525">
                  <a:moveTo>
                    <a:pt x="10885" y="0"/>
                  </a:moveTo>
                  <a:lnTo>
                    <a:pt x="2611640" y="0"/>
                  </a:lnTo>
                  <a:cubicBezTo>
                    <a:pt x="2614526" y="0"/>
                    <a:pt x="2617295" y="1147"/>
                    <a:pt x="2619336" y="3188"/>
                  </a:cubicBezTo>
                  <a:cubicBezTo>
                    <a:pt x="2621378" y="5230"/>
                    <a:pt x="2622525" y="7998"/>
                    <a:pt x="2622525" y="10885"/>
                  </a:cubicBezTo>
                  <a:lnTo>
                    <a:pt x="2622525" y="520866"/>
                  </a:lnTo>
                  <a:cubicBezTo>
                    <a:pt x="2622525" y="526878"/>
                    <a:pt x="2617651" y="531751"/>
                    <a:pt x="2611640" y="531751"/>
                  </a:cubicBezTo>
                  <a:lnTo>
                    <a:pt x="10885" y="531751"/>
                  </a:lnTo>
                  <a:cubicBezTo>
                    <a:pt x="7998" y="531751"/>
                    <a:pt x="5230" y="530604"/>
                    <a:pt x="3188" y="528563"/>
                  </a:cubicBezTo>
                  <a:cubicBezTo>
                    <a:pt x="1147" y="526522"/>
                    <a:pt x="0" y="523753"/>
                    <a:pt x="0" y="520866"/>
                  </a:cubicBezTo>
                  <a:lnTo>
                    <a:pt x="0" y="10885"/>
                  </a:lnTo>
                  <a:cubicBezTo>
                    <a:pt x="0" y="7998"/>
                    <a:pt x="1147" y="5230"/>
                    <a:pt x="3188" y="3188"/>
                  </a:cubicBezTo>
                  <a:cubicBezTo>
                    <a:pt x="5230" y="1147"/>
                    <a:pt x="7998" y="0"/>
                    <a:pt x="10885" y="0"/>
                  </a:cubicBezTo>
                  <a:close/>
                </a:path>
              </a:pathLst>
            </a:custGeom>
            <a:gradFill rotWithShape="true">
              <a:gsLst>
                <a:gs pos="0">
                  <a:srgbClr val="048AFF">
                    <a:alpha val="63000"/>
                  </a:srgbClr>
                </a:gs>
                <a:gs pos="100000">
                  <a:srgbClr val="B100E8">
                    <a:alpha val="63000"/>
                  </a:srgbClr>
                </a:gs>
              </a:gsLst>
              <a:path path="circle">
                <a:fillToRect l="0" r="100000" t="0" b="100000"/>
              </a:path>
              <a:tileRect r="0" l="-100000" b="0" t="-100000"/>
            </a:gradFill>
            <a:ln cap="sq">
              <a:noFill/>
              <a:prstDash val="solid"/>
              <a:miter/>
            </a:ln>
          </p:spPr>
        </p:sp>
        <p:sp>
          <p:nvSpPr>
            <p:cNvPr name="TextBox 5" id="5"/>
            <p:cNvSpPr txBox="true"/>
            <p:nvPr/>
          </p:nvSpPr>
          <p:spPr>
            <a:xfrm>
              <a:off x="0" y="-9525"/>
              <a:ext cx="2622525" cy="541276"/>
            </a:xfrm>
            <a:prstGeom prst="rect">
              <a:avLst/>
            </a:prstGeom>
          </p:spPr>
          <p:txBody>
            <a:bodyPr anchor="ctr" rtlCol="false" tIns="50800" lIns="50800" bIns="50800" rIns="50800"/>
            <a:lstStyle/>
            <a:p>
              <a:pPr algn="ctr" marL="0" indent="0" lvl="0">
                <a:lnSpc>
                  <a:spcPts val="3131"/>
                </a:lnSpc>
                <a:spcBef>
                  <a:spcPct val="0"/>
                </a:spcBef>
              </a:pPr>
            </a:p>
          </p:txBody>
        </p:sp>
      </p:grpSp>
      <p:sp>
        <p:nvSpPr>
          <p:cNvPr name="TextBox 6" id="6"/>
          <p:cNvSpPr txBox="true"/>
          <p:nvPr/>
        </p:nvSpPr>
        <p:spPr>
          <a:xfrm rot="0">
            <a:off x="4735599" y="1320223"/>
            <a:ext cx="8765094" cy="1293072"/>
          </a:xfrm>
          <a:prstGeom prst="rect">
            <a:avLst/>
          </a:prstGeom>
        </p:spPr>
        <p:txBody>
          <a:bodyPr anchor="t" rtlCol="false" tIns="0" lIns="0" bIns="0" rIns="0">
            <a:spAutoFit/>
          </a:bodyPr>
          <a:lstStyle/>
          <a:p>
            <a:pPr algn="ctr" marL="0" indent="0" lvl="0">
              <a:lnSpc>
                <a:spcPts val="10449"/>
              </a:lnSpc>
              <a:spcBef>
                <a:spcPct val="0"/>
              </a:spcBef>
            </a:pPr>
            <a:r>
              <a:rPr lang="en-US" sz="7517">
                <a:solidFill>
                  <a:srgbClr val="FFFFFF"/>
                </a:solidFill>
                <a:latin typeface="Now Bold"/>
              </a:rPr>
              <a:t>User Experience</a:t>
            </a:r>
          </a:p>
        </p:txBody>
      </p:sp>
      <p:sp>
        <p:nvSpPr>
          <p:cNvPr name="TextBox 7" id="7"/>
          <p:cNvSpPr txBox="true"/>
          <p:nvPr/>
        </p:nvSpPr>
        <p:spPr>
          <a:xfrm rot="0">
            <a:off x="1971077" y="3970828"/>
            <a:ext cx="5529045" cy="4950048"/>
          </a:xfrm>
          <a:prstGeom prst="rect">
            <a:avLst/>
          </a:prstGeom>
        </p:spPr>
        <p:txBody>
          <a:bodyPr anchor="t" rtlCol="false" tIns="0" lIns="0" bIns="0" rIns="0">
            <a:spAutoFit/>
          </a:bodyPr>
          <a:lstStyle/>
          <a:p>
            <a:pPr algn="l" marL="532659" indent="-266329" lvl="1">
              <a:lnSpc>
                <a:spcPts val="3602"/>
              </a:lnSpc>
              <a:buFont typeface="Arial"/>
              <a:buChar char="•"/>
            </a:pPr>
            <a:r>
              <a:rPr lang="en-US" sz="2467">
                <a:solidFill>
                  <a:srgbClr val="FFFFFF"/>
                </a:solidFill>
                <a:latin typeface="DM Sans"/>
              </a:rPr>
              <a:t>Users appreciate the convenience of GPS-based location detection within the bus, as it provides accurate and real-time information on their whereabouts.</a:t>
            </a:r>
          </a:p>
          <a:p>
            <a:pPr algn="l">
              <a:lnSpc>
                <a:spcPts val="3602"/>
              </a:lnSpc>
            </a:pPr>
          </a:p>
          <a:p>
            <a:pPr algn="l" marL="532659" indent="-266329" lvl="1">
              <a:lnSpc>
                <a:spcPts val="3602"/>
              </a:lnSpc>
              <a:buFont typeface="Arial"/>
              <a:buChar char="•"/>
            </a:pPr>
            <a:r>
              <a:rPr lang="en-US" sz="2467">
                <a:solidFill>
                  <a:srgbClr val="FFFFFF"/>
                </a:solidFill>
                <a:latin typeface="DM Sans"/>
              </a:rPr>
              <a:t>The interface components for source and destination selection have been well-received, offering both manual input and predefined options for enhanced usability.</a:t>
            </a:r>
            <a:r>
              <a:rPr lang="en-US" sz="2467">
                <a:solidFill>
                  <a:srgbClr val="FFFFFF"/>
                </a:solidFill>
                <a:latin typeface="DM Sans"/>
              </a:rPr>
              <a:t>..</a:t>
            </a:r>
          </a:p>
        </p:txBody>
      </p:sp>
      <p:sp>
        <p:nvSpPr>
          <p:cNvPr name="TextBox 8" id="8"/>
          <p:cNvSpPr txBox="true"/>
          <p:nvPr/>
        </p:nvSpPr>
        <p:spPr>
          <a:xfrm rot="0">
            <a:off x="9715298" y="3970828"/>
            <a:ext cx="6397502" cy="4760711"/>
          </a:xfrm>
          <a:prstGeom prst="rect">
            <a:avLst/>
          </a:prstGeom>
        </p:spPr>
        <p:txBody>
          <a:bodyPr anchor="t" rtlCol="false" tIns="0" lIns="0" bIns="0" rIns="0">
            <a:spAutoFit/>
          </a:bodyPr>
          <a:lstStyle/>
          <a:p>
            <a:pPr algn="l" marL="564149" indent="-282074" lvl="1">
              <a:lnSpc>
                <a:spcPts val="3814"/>
              </a:lnSpc>
              <a:buFont typeface="Arial"/>
              <a:buChar char="•"/>
            </a:pPr>
            <a:r>
              <a:rPr lang="en-US" sz="2613">
                <a:solidFill>
                  <a:srgbClr val="FFFFFF"/>
                </a:solidFill>
                <a:latin typeface="DM Sans"/>
              </a:rPr>
              <a:t>Users find the display of available routes and buses based on their selection to be informative and helpful in planning their journeys.</a:t>
            </a:r>
          </a:p>
          <a:p>
            <a:pPr algn="l">
              <a:lnSpc>
                <a:spcPts val="3814"/>
              </a:lnSpc>
            </a:pPr>
          </a:p>
          <a:p>
            <a:pPr algn="l" marL="564149" indent="-282074" lvl="1">
              <a:lnSpc>
                <a:spcPts val="3814"/>
              </a:lnSpc>
              <a:buFont typeface="Arial"/>
              <a:buChar char="•"/>
            </a:pPr>
            <a:r>
              <a:rPr lang="en-US" sz="2613">
                <a:solidFill>
                  <a:srgbClr val="FFFFFF"/>
                </a:solidFill>
                <a:latin typeface="DM Sans"/>
              </a:rPr>
              <a:t>The integration with Google Maps for detailed route information has garnered positive feedback, particularly for its clarity and ease of use in navigating upcoming stations.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Freeform 3" id="3"/>
          <p:cNvSpPr/>
          <p:nvPr/>
        </p:nvSpPr>
        <p:spPr>
          <a:xfrm flipH="false" flipV="false" rot="0">
            <a:off x="-3829643" y="6244472"/>
            <a:ext cx="8403333" cy="8403333"/>
          </a:xfrm>
          <a:custGeom>
            <a:avLst/>
            <a:gdLst/>
            <a:ahLst/>
            <a:cxnLst/>
            <a:rect r="r" b="b" t="t" l="l"/>
            <a:pathLst>
              <a:path h="8403333" w="8403333">
                <a:moveTo>
                  <a:pt x="0" y="0"/>
                </a:moveTo>
                <a:lnTo>
                  <a:pt x="8403332" y="0"/>
                </a:lnTo>
                <a:lnTo>
                  <a:pt x="8403332" y="8403333"/>
                </a:lnTo>
                <a:lnTo>
                  <a:pt x="0" y="840333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2467055" y="-5531760"/>
            <a:ext cx="12113715" cy="12113715"/>
          </a:xfrm>
          <a:custGeom>
            <a:avLst/>
            <a:gdLst/>
            <a:ahLst/>
            <a:cxnLst/>
            <a:rect r="r" b="b" t="t" l="l"/>
            <a:pathLst>
              <a:path h="12113715" w="12113715">
                <a:moveTo>
                  <a:pt x="0" y="0"/>
                </a:moveTo>
                <a:lnTo>
                  <a:pt x="12113715" y="0"/>
                </a:lnTo>
                <a:lnTo>
                  <a:pt x="12113715" y="12113715"/>
                </a:lnTo>
                <a:lnTo>
                  <a:pt x="0" y="1211371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4024297" y="2394414"/>
            <a:ext cx="3413144" cy="7359879"/>
          </a:xfrm>
          <a:custGeom>
            <a:avLst/>
            <a:gdLst/>
            <a:ahLst/>
            <a:cxnLst/>
            <a:rect r="r" b="b" t="t" l="l"/>
            <a:pathLst>
              <a:path h="7359879" w="3413144">
                <a:moveTo>
                  <a:pt x="0" y="0"/>
                </a:moveTo>
                <a:lnTo>
                  <a:pt x="3413144" y="0"/>
                </a:lnTo>
                <a:lnTo>
                  <a:pt x="3413144" y="7359880"/>
                </a:lnTo>
                <a:lnTo>
                  <a:pt x="0" y="7359880"/>
                </a:lnTo>
                <a:lnTo>
                  <a:pt x="0" y="0"/>
                </a:lnTo>
                <a:close/>
              </a:path>
            </a:pathLst>
          </a:custGeom>
          <a:blipFill>
            <a:blip r:embed="rId7"/>
            <a:stretch>
              <a:fillRect l="0" t="0" r="0" b="0"/>
            </a:stretch>
          </a:blipFill>
        </p:spPr>
      </p:sp>
      <p:sp>
        <p:nvSpPr>
          <p:cNvPr name="Freeform 6" id="6"/>
          <p:cNvSpPr/>
          <p:nvPr/>
        </p:nvSpPr>
        <p:spPr>
          <a:xfrm flipH="false" flipV="false" rot="0">
            <a:off x="9547322" y="2394414"/>
            <a:ext cx="3537342" cy="7359879"/>
          </a:xfrm>
          <a:custGeom>
            <a:avLst/>
            <a:gdLst/>
            <a:ahLst/>
            <a:cxnLst/>
            <a:rect r="r" b="b" t="t" l="l"/>
            <a:pathLst>
              <a:path h="7359879" w="3537342">
                <a:moveTo>
                  <a:pt x="0" y="0"/>
                </a:moveTo>
                <a:lnTo>
                  <a:pt x="3537342" y="0"/>
                </a:lnTo>
                <a:lnTo>
                  <a:pt x="3537342" y="7359880"/>
                </a:lnTo>
                <a:lnTo>
                  <a:pt x="0" y="7359880"/>
                </a:lnTo>
                <a:lnTo>
                  <a:pt x="0" y="0"/>
                </a:lnTo>
                <a:close/>
              </a:path>
            </a:pathLst>
          </a:custGeom>
          <a:blipFill>
            <a:blip r:embed="rId8"/>
            <a:stretch>
              <a:fillRect l="0" t="0" r="0" b="0"/>
            </a:stretch>
          </a:blipFill>
        </p:spPr>
      </p:sp>
      <p:sp>
        <p:nvSpPr>
          <p:cNvPr name="TextBox 7" id="7"/>
          <p:cNvSpPr txBox="true"/>
          <p:nvPr/>
        </p:nvSpPr>
        <p:spPr>
          <a:xfrm rot="0">
            <a:off x="0" y="933450"/>
            <a:ext cx="8738499" cy="845135"/>
          </a:xfrm>
          <a:prstGeom prst="rect">
            <a:avLst/>
          </a:prstGeom>
        </p:spPr>
        <p:txBody>
          <a:bodyPr anchor="t" rtlCol="false" tIns="0" lIns="0" bIns="0" rIns="0">
            <a:spAutoFit/>
          </a:bodyPr>
          <a:lstStyle/>
          <a:p>
            <a:pPr algn="ctr">
              <a:lnSpc>
                <a:spcPts val="6857"/>
              </a:lnSpc>
            </a:pPr>
            <a:r>
              <a:rPr lang="en-US" sz="4933">
                <a:solidFill>
                  <a:srgbClr val="048AFF"/>
                </a:solidFill>
                <a:latin typeface="Now Bold"/>
              </a:rPr>
              <a:t>Login Page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Freeform 3" id="3"/>
          <p:cNvSpPr/>
          <p:nvPr/>
        </p:nvSpPr>
        <p:spPr>
          <a:xfrm flipH="false" flipV="false" rot="0">
            <a:off x="-3829643" y="6244472"/>
            <a:ext cx="8403333" cy="8403333"/>
          </a:xfrm>
          <a:custGeom>
            <a:avLst/>
            <a:gdLst/>
            <a:ahLst/>
            <a:cxnLst/>
            <a:rect r="r" b="b" t="t" l="l"/>
            <a:pathLst>
              <a:path h="8403333" w="8403333">
                <a:moveTo>
                  <a:pt x="0" y="0"/>
                </a:moveTo>
                <a:lnTo>
                  <a:pt x="8403332" y="0"/>
                </a:lnTo>
                <a:lnTo>
                  <a:pt x="8403332" y="8403333"/>
                </a:lnTo>
                <a:lnTo>
                  <a:pt x="0" y="840333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2371583" y="-5722705"/>
            <a:ext cx="12113715" cy="12113715"/>
          </a:xfrm>
          <a:custGeom>
            <a:avLst/>
            <a:gdLst/>
            <a:ahLst/>
            <a:cxnLst/>
            <a:rect r="r" b="b" t="t" l="l"/>
            <a:pathLst>
              <a:path h="12113715" w="12113715">
                <a:moveTo>
                  <a:pt x="0" y="0"/>
                </a:moveTo>
                <a:lnTo>
                  <a:pt x="12113715" y="0"/>
                </a:lnTo>
                <a:lnTo>
                  <a:pt x="12113715" y="12113715"/>
                </a:lnTo>
                <a:lnTo>
                  <a:pt x="0" y="1211371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6765391" y="2298942"/>
            <a:ext cx="4614010" cy="7359879"/>
          </a:xfrm>
          <a:custGeom>
            <a:avLst/>
            <a:gdLst/>
            <a:ahLst/>
            <a:cxnLst/>
            <a:rect r="r" b="b" t="t" l="l"/>
            <a:pathLst>
              <a:path h="7359879" w="4614010">
                <a:moveTo>
                  <a:pt x="0" y="0"/>
                </a:moveTo>
                <a:lnTo>
                  <a:pt x="4614010" y="0"/>
                </a:lnTo>
                <a:lnTo>
                  <a:pt x="4614010" y="7359880"/>
                </a:lnTo>
                <a:lnTo>
                  <a:pt x="0" y="7359880"/>
                </a:lnTo>
                <a:lnTo>
                  <a:pt x="0" y="0"/>
                </a:lnTo>
                <a:close/>
              </a:path>
            </a:pathLst>
          </a:custGeom>
          <a:blipFill>
            <a:blip r:embed="rId7"/>
            <a:stretch>
              <a:fillRect l="0" t="-16516" r="0" b="-16516"/>
            </a:stretch>
          </a:blipFill>
        </p:spPr>
      </p:sp>
      <p:sp>
        <p:nvSpPr>
          <p:cNvPr name="TextBox 6" id="6"/>
          <p:cNvSpPr txBox="true"/>
          <p:nvPr/>
        </p:nvSpPr>
        <p:spPr>
          <a:xfrm rot="0">
            <a:off x="0" y="933450"/>
            <a:ext cx="8738499" cy="845135"/>
          </a:xfrm>
          <a:prstGeom prst="rect">
            <a:avLst/>
          </a:prstGeom>
        </p:spPr>
        <p:txBody>
          <a:bodyPr anchor="t" rtlCol="false" tIns="0" lIns="0" bIns="0" rIns="0">
            <a:spAutoFit/>
          </a:bodyPr>
          <a:lstStyle/>
          <a:p>
            <a:pPr algn="ctr">
              <a:lnSpc>
                <a:spcPts val="6857"/>
              </a:lnSpc>
            </a:pPr>
            <a:r>
              <a:rPr lang="en-US" sz="4933">
                <a:solidFill>
                  <a:srgbClr val="048AFF"/>
                </a:solidFill>
                <a:latin typeface="Now Bold"/>
              </a:rPr>
              <a:t>in side bus or outside bus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Freeform 3" id="3"/>
          <p:cNvSpPr/>
          <p:nvPr/>
        </p:nvSpPr>
        <p:spPr>
          <a:xfrm flipH="false" flipV="false" rot="0">
            <a:off x="-3829643" y="6244472"/>
            <a:ext cx="8403333" cy="8403333"/>
          </a:xfrm>
          <a:custGeom>
            <a:avLst/>
            <a:gdLst/>
            <a:ahLst/>
            <a:cxnLst/>
            <a:rect r="r" b="b" t="t" l="l"/>
            <a:pathLst>
              <a:path h="8403333" w="8403333">
                <a:moveTo>
                  <a:pt x="0" y="0"/>
                </a:moveTo>
                <a:lnTo>
                  <a:pt x="8403332" y="0"/>
                </a:lnTo>
                <a:lnTo>
                  <a:pt x="8403332" y="8403333"/>
                </a:lnTo>
                <a:lnTo>
                  <a:pt x="0" y="840333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2371583" y="-5722705"/>
            <a:ext cx="12113715" cy="12113715"/>
          </a:xfrm>
          <a:custGeom>
            <a:avLst/>
            <a:gdLst/>
            <a:ahLst/>
            <a:cxnLst/>
            <a:rect r="r" b="b" t="t" l="l"/>
            <a:pathLst>
              <a:path h="12113715" w="12113715">
                <a:moveTo>
                  <a:pt x="0" y="0"/>
                </a:moveTo>
                <a:lnTo>
                  <a:pt x="12113715" y="0"/>
                </a:lnTo>
                <a:lnTo>
                  <a:pt x="12113715" y="12113715"/>
                </a:lnTo>
                <a:lnTo>
                  <a:pt x="0" y="1211371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7693945" y="389179"/>
            <a:ext cx="4478017" cy="9489838"/>
          </a:xfrm>
          <a:custGeom>
            <a:avLst/>
            <a:gdLst/>
            <a:ahLst/>
            <a:cxnLst/>
            <a:rect r="r" b="b" t="t" l="l"/>
            <a:pathLst>
              <a:path h="9489838" w="4478017">
                <a:moveTo>
                  <a:pt x="0" y="0"/>
                </a:moveTo>
                <a:lnTo>
                  <a:pt x="4478017" y="0"/>
                </a:lnTo>
                <a:lnTo>
                  <a:pt x="4478017" y="9489838"/>
                </a:lnTo>
                <a:lnTo>
                  <a:pt x="0" y="9489838"/>
                </a:lnTo>
                <a:lnTo>
                  <a:pt x="0" y="0"/>
                </a:lnTo>
                <a:close/>
              </a:path>
            </a:pathLst>
          </a:custGeom>
          <a:blipFill>
            <a:blip r:embed="rId7"/>
            <a:stretch>
              <a:fillRect l="0" t="0" r="0" b="0"/>
            </a:stretch>
          </a:blipFill>
        </p:spPr>
      </p:sp>
      <p:sp>
        <p:nvSpPr>
          <p:cNvPr name="TextBox 6" id="6"/>
          <p:cNvSpPr txBox="true"/>
          <p:nvPr/>
        </p:nvSpPr>
        <p:spPr>
          <a:xfrm rot="0">
            <a:off x="0" y="933450"/>
            <a:ext cx="8738499" cy="845135"/>
          </a:xfrm>
          <a:prstGeom prst="rect">
            <a:avLst/>
          </a:prstGeom>
        </p:spPr>
        <p:txBody>
          <a:bodyPr anchor="t" rtlCol="false" tIns="0" lIns="0" bIns="0" rIns="0">
            <a:spAutoFit/>
          </a:bodyPr>
          <a:lstStyle/>
          <a:p>
            <a:pPr algn="ctr">
              <a:lnSpc>
                <a:spcPts val="6857"/>
              </a:lnSpc>
            </a:pPr>
            <a:r>
              <a:rPr lang="en-US" sz="4933">
                <a:solidFill>
                  <a:srgbClr val="048AFF"/>
                </a:solidFill>
                <a:latin typeface="Now Bold"/>
              </a:rPr>
              <a:t>IN SIDE BUS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Freeform 3" id="3"/>
          <p:cNvSpPr/>
          <p:nvPr/>
        </p:nvSpPr>
        <p:spPr>
          <a:xfrm flipH="false" flipV="false" rot="0">
            <a:off x="-3829643" y="6244472"/>
            <a:ext cx="8403333" cy="8403333"/>
          </a:xfrm>
          <a:custGeom>
            <a:avLst/>
            <a:gdLst/>
            <a:ahLst/>
            <a:cxnLst/>
            <a:rect r="r" b="b" t="t" l="l"/>
            <a:pathLst>
              <a:path h="8403333" w="8403333">
                <a:moveTo>
                  <a:pt x="0" y="0"/>
                </a:moveTo>
                <a:lnTo>
                  <a:pt x="8403332" y="0"/>
                </a:lnTo>
                <a:lnTo>
                  <a:pt x="8403332" y="8403333"/>
                </a:lnTo>
                <a:lnTo>
                  <a:pt x="0" y="840333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2371583" y="-5722705"/>
            <a:ext cx="12113715" cy="12113715"/>
          </a:xfrm>
          <a:custGeom>
            <a:avLst/>
            <a:gdLst/>
            <a:ahLst/>
            <a:cxnLst/>
            <a:rect r="r" b="b" t="t" l="l"/>
            <a:pathLst>
              <a:path h="12113715" w="12113715">
                <a:moveTo>
                  <a:pt x="0" y="0"/>
                </a:moveTo>
                <a:lnTo>
                  <a:pt x="12113715" y="0"/>
                </a:lnTo>
                <a:lnTo>
                  <a:pt x="12113715" y="12113715"/>
                </a:lnTo>
                <a:lnTo>
                  <a:pt x="0" y="1211371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6876024" y="334153"/>
            <a:ext cx="4535952" cy="9587217"/>
          </a:xfrm>
          <a:custGeom>
            <a:avLst/>
            <a:gdLst/>
            <a:ahLst/>
            <a:cxnLst/>
            <a:rect r="r" b="b" t="t" l="l"/>
            <a:pathLst>
              <a:path h="9587217" w="4535952">
                <a:moveTo>
                  <a:pt x="0" y="0"/>
                </a:moveTo>
                <a:lnTo>
                  <a:pt x="4535952" y="0"/>
                </a:lnTo>
                <a:lnTo>
                  <a:pt x="4535952" y="9587217"/>
                </a:lnTo>
                <a:lnTo>
                  <a:pt x="0" y="9587217"/>
                </a:lnTo>
                <a:lnTo>
                  <a:pt x="0" y="0"/>
                </a:lnTo>
                <a:close/>
              </a:path>
            </a:pathLst>
          </a:custGeom>
          <a:blipFill>
            <a:blip r:embed="rId7"/>
            <a:stretch>
              <a:fillRect l="0" t="0" r="0" b="0"/>
            </a:stretch>
          </a:blipFill>
        </p:spPr>
      </p:sp>
      <p:sp>
        <p:nvSpPr>
          <p:cNvPr name="TextBox 6" id="6"/>
          <p:cNvSpPr txBox="true"/>
          <p:nvPr/>
        </p:nvSpPr>
        <p:spPr>
          <a:xfrm rot="0">
            <a:off x="-1503687" y="933450"/>
            <a:ext cx="8738499" cy="845135"/>
          </a:xfrm>
          <a:prstGeom prst="rect">
            <a:avLst/>
          </a:prstGeom>
        </p:spPr>
        <p:txBody>
          <a:bodyPr anchor="t" rtlCol="false" tIns="0" lIns="0" bIns="0" rIns="0">
            <a:spAutoFit/>
          </a:bodyPr>
          <a:lstStyle/>
          <a:p>
            <a:pPr algn="ctr">
              <a:lnSpc>
                <a:spcPts val="6857"/>
              </a:lnSpc>
            </a:pPr>
            <a:r>
              <a:rPr lang="en-US" sz="4933">
                <a:solidFill>
                  <a:srgbClr val="048AFF"/>
                </a:solidFill>
                <a:latin typeface="Now Bold"/>
              </a:rPr>
              <a:t>OUTSIDE BUS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Freeform 3" id="3"/>
          <p:cNvSpPr/>
          <p:nvPr/>
        </p:nvSpPr>
        <p:spPr>
          <a:xfrm flipH="false" flipV="false" rot="0">
            <a:off x="-3829643" y="6244472"/>
            <a:ext cx="8403333" cy="8403333"/>
          </a:xfrm>
          <a:custGeom>
            <a:avLst/>
            <a:gdLst/>
            <a:ahLst/>
            <a:cxnLst/>
            <a:rect r="r" b="b" t="t" l="l"/>
            <a:pathLst>
              <a:path h="8403333" w="8403333">
                <a:moveTo>
                  <a:pt x="0" y="0"/>
                </a:moveTo>
                <a:lnTo>
                  <a:pt x="8403332" y="0"/>
                </a:lnTo>
                <a:lnTo>
                  <a:pt x="8403332" y="8403333"/>
                </a:lnTo>
                <a:lnTo>
                  <a:pt x="0" y="840333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2371583" y="-5722705"/>
            <a:ext cx="12113715" cy="12113715"/>
          </a:xfrm>
          <a:custGeom>
            <a:avLst/>
            <a:gdLst/>
            <a:ahLst/>
            <a:cxnLst/>
            <a:rect r="r" b="b" t="t" l="l"/>
            <a:pathLst>
              <a:path h="12113715" w="12113715">
                <a:moveTo>
                  <a:pt x="0" y="0"/>
                </a:moveTo>
                <a:lnTo>
                  <a:pt x="12113715" y="0"/>
                </a:lnTo>
                <a:lnTo>
                  <a:pt x="12113715" y="12113715"/>
                </a:lnTo>
                <a:lnTo>
                  <a:pt x="0" y="1211371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6784298" y="334153"/>
            <a:ext cx="4714748" cy="9628202"/>
          </a:xfrm>
          <a:custGeom>
            <a:avLst/>
            <a:gdLst/>
            <a:ahLst/>
            <a:cxnLst/>
            <a:rect r="r" b="b" t="t" l="l"/>
            <a:pathLst>
              <a:path h="9628202" w="4714748">
                <a:moveTo>
                  <a:pt x="0" y="0"/>
                </a:moveTo>
                <a:lnTo>
                  <a:pt x="4714748" y="0"/>
                </a:lnTo>
                <a:lnTo>
                  <a:pt x="4714748" y="9628201"/>
                </a:lnTo>
                <a:lnTo>
                  <a:pt x="0" y="9628201"/>
                </a:lnTo>
                <a:lnTo>
                  <a:pt x="0" y="0"/>
                </a:lnTo>
                <a:close/>
              </a:path>
            </a:pathLst>
          </a:custGeom>
          <a:blipFill>
            <a:blip r:embed="rId7"/>
            <a:stretch>
              <a:fillRect l="0" t="0" r="0" b="0"/>
            </a:stretch>
          </a:blipFill>
        </p:spPr>
      </p:sp>
      <p:sp>
        <p:nvSpPr>
          <p:cNvPr name="TextBox 6" id="6"/>
          <p:cNvSpPr txBox="true"/>
          <p:nvPr/>
        </p:nvSpPr>
        <p:spPr>
          <a:xfrm rot="0">
            <a:off x="-1766236" y="993773"/>
            <a:ext cx="8738499" cy="845135"/>
          </a:xfrm>
          <a:prstGeom prst="rect">
            <a:avLst/>
          </a:prstGeom>
        </p:spPr>
        <p:txBody>
          <a:bodyPr anchor="t" rtlCol="false" tIns="0" lIns="0" bIns="0" rIns="0">
            <a:spAutoFit/>
          </a:bodyPr>
          <a:lstStyle/>
          <a:p>
            <a:pPr algn="ctr">
              <a:lnSpc>
                <a:spcPts val="6857"/>
              </a:lnSpc>
            </a:pPr>
            <a:r>
              <a:rPr lang="en-US" sz="4933">
                <a:solidFill>
                  <a:srgbClr val="048AFF"/>
                </a:solidFill>
                <a:latin typeface="Now Bold"/>
              </a:rPr>
              <a:t>List of station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Freeform 3" id="3"/>
          <p:cNvSpPr/>
          <p:nvPr/>
        </p:nvSpPr>
        <p:spPr>
          <a:xfrm flipH="false" flipV="false" rot="0">
            <a:off x="-3829643" y="6244472"/>
            <a:ext cx="8403333" cy="8403333"/>
          </a:xfrm>
          <a:custGeom>
            <a:avLst/>
            <a:gdLst/>
            <a:ahLst/>
            <a:cxnLst/>
            <a:rect r="r" b="b" t="t" l="l"/>
            <a:pathLst>
              <a:path h="8403333" w="8403333">
                <a:moveTo>
                  <a:pt x="0" y="0"/>
                </a:moveTo>
                <a:lnTo>
                  <a:pt x="8403332" y="0"/>
                </a:lnTo>
                <a:lnTo>
                  <a:pt x="8403332" y="8403333"/>
                </a:lnTo>
                <a:lnTo>
                  <a:pt x="0" y="840333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2371583" y="-5722705"/>
            <a:ext cx="12113715" cy="12113715"/>
          </a:xfrm>
          <a:custGeom>
            <a:avLst/>
            <a:gdLst/>
            <a:ahLst/>
            <a:cxnLst/>
            <a:rect r="r" b="b" t="t" l="l"/>
            <a:pathLst>
              <a:path h="12113715" w="12113715">
                <a:moveTo>
                  <a:pt x="0" y="0"/>
                </a:moveTo>
                <a:lnTo>
                  <a:pt x="12113715" y="0"/>
                </a:lnTo>
                <a:lnTo>
                  <a:pt x="12113715" y="12113715"/>
                </a:lnTo>
                <a:lnTo>
                  <a:pt x="0" y="1211371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6980203" y="1630637"/>
            <a:ext cx="3894419" cy="8466613"/>
          </a:xfrm>
          <a:custGeom>
            <a:avLst/>
            <a:gdLst/>
            <a:ahLst/>
            <a:cxnLst/>
            <a:rect r="r" b="b" t="t" l="l"/>
            <a:pathLst>
              <a:path h="8466613" w="3894419">
                <a:moveTo>
                  <a:pt x="0" y="0"/>
                </a:moveTo>
                <a:lnTo>
                  <a:pt x="3894420" y="0"/>
                </a:lnTo>
                <a:lnTo>
                  <a:pt x="3894420" y="8466612"/>
                </a:lnTo>
                <a:lnTo>
                  <a:pt x="0" y="8466612"/>
                </a:lnTo>
                <a:lnTo>
                  <a:pt x="0" y="0"/>
                </a:lnTo>
                <a:close/>
              </a:path>
            </a:pathLst>
          </a:custGeom>
          <a:blipFill>
            <a:blip r:embed="rId7"/>
            <a:stretch>
              <a:fillRect l="0" t="0" r="-2451" b="0"/>
            </a:stretch>
          </a:blipFill>
        </p:spPr>
      </p:sp>
      <p:sp>
        <p:nvSpPr>
          <p:cNvPr name="TextBox 6" id="6"/>
          <p:cNvSpPr txBox="true"/>
          <p:nvPr/>
        </p:nvSpPr>
        <p:spPr>
          <a:xfrm rot="0">
            <a:off x="1988988" y="183565"/>
            <a:ext cx="8738499" cy="845135"/>
          </a:xfrm>
          <a:prstGeom prst="rect">
            <a:avLst/>
          </a:prstGeom>
        </p:spPr>
        <p:txBody>
          <a:bodyPr anchor="t" rtlCol="false" tIns="0" lIns="0" bIns="0" rIns="0">
            <a:spAutoFit/>
          </a:bodyPr>
          <a:lstStyle/>
          <a:p>
            <a:pPr algn="ctr">
              <a:lnSpc>
                <a:spcPts val="6857"/>
              </a:lnSpc>
            </a:pPr>
            <a:r>
              <a:rPr lang="en-US" sz="4933">
                <a:solidFill>
                  <a:srgbClr val="048AFF"/>
                </a:solidFill>
                <a:latin typeface="Now Bold"/>
              </a:rPr>
              <a:t>station marker on map</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38888" r="0" b="-38888"/>
            </a:stretch>
          </a:blipFill>
        </p:spPr>
      </p:sp>
      <p:sp>
        <p:nvSpPr>
          <p:cNvPr name="Freeform 3" id="3"/>
          <p:cNvSpPr/>
          <p:nvPr/>
        </p:nvSpPr>
        <p:spPr>
          <a:xfrm flipH="false" flipV="false" rot="-6001244">
            <a:off x="10917706" y="7049713"/>
            <a:ext cx="14283863" cy="12962606"/>
          </a:xfrm>
          <a:custGeom>
            <a:avLst/>
            <a:gdLst/>
            <a:ahLst/>
            <a:cxnLst/>
            <a:rect r="r" b="b" t="t" l="l"/>
            <a:pathLst>
              <a:path h="12962606" w="14283863">
                <a:moveTo>
                  <a:pt x="0" y="0"/>
                </a:moveTo>
                <a:lnTo>
                  <a:pt x="14283863" y="0"/>
                </a:lnTo>
                <a:lnTo>
                  <a:pt x="14283863" y="12962606"/>
                </a:lnTo>
                <a:lnTo>
                  <a:pt x="0" y="12962606"/>
                </a:lnTo>
                <a:lnTo>
                  <a:pt x="0" y="0"/>
                </a:lnTo>
                <a:close/>
              </a:path>
            </a:pathLst>
          </a:custGeom>
          <a:blipFill>
            <a:blip r:embed="rId3"/>
            <a:stretch>
              <a:fillRect l="0" t="0" r="0" b="0"/>
            </a:stretch>
          </a:blipFill>
        </p:spPr>
      </p:sp>
      <p:sp>
        <p:nvSpPr>
          <p:cNvPr name="Freeform 4" id="4"/>
          <p:cNvSpPr/>
          <p:nvPr/>
        </p:nvSpPr>
        <p:spPr>
          <a:xfrm flipH="false" flipV="false" rot="1084654">
            <a:off x="-6628924" y="-8283079"/>
            <a:ext cx="12596877" cy="11431666"/>
          </a:xfrm>
          <a:custGeom>
            <a:avLst/>
            <a:gdLst/>
            <a:ahLst/>
            <a:cxnLst/>
            <a:rect r="r" b="b" t="t" l="l"/>
            <a:pathLst>
              <a:path h="11431666" w="12596877">
                <a:moveTo>
                  <a:pt x="0" y="0"/>
                </a:moveTo>
                <a:lnTo>
                  <a:pt x="12596877" y="0"/>
                </a:lnTo>
                <a:lnTo>
                  <a:pt x="12596877" y="11431667"/>
                </a:lnTo>
                <a:lnTo>
                  <a:pt x="0" y="11431667"/>
                </a:lnTo>
                <a:lnTo>
                  <a:pt x="0" y="0"/>
                </a:lnTo>
                <a:close/>
              </a:path>
            </a:pathLst>
          </a:custGeom>
          <a:blipFill>
            <a:blip r:embed="rId3"/>
            <a:stretch>
              <a:fillRect l="0" t="0" r="0" b="0"/>
            </a:stretch>
          </a:blipFill>
        </p:spPr>
      </p:sp>
      <p:sp>
        <p:nvSpPr>
          <p:cNvPr name="Freeform 5" id="5"/>
          <p:cNvSpPr/>
          <p:nvPr/>
        </p:nvSpPr>
        <p:spPr>
          <a:xfrm flipH="false" flipV="false" rot="0">
            <a:off x="14545481" y="-693771"/>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alphaModFix amt="67000"/>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765165" y="4420233"/>
            <a:ext cx="14984795" cy="1833318"/>
          </a:xfrm>
          <a:prstGeom prst="rect">
            <a:avLst/>
          </a:prstGeom>
        </p:spPr>
        <p:txBody>
          <a:bodyPr anchor="t" rtlCol="false" tIns="0" lIns="0" bIns="0" rIns="0">
            <a:spAutoFit/>
          </a:bodyPr>
          <a:lstStyle/>
          <a:p>
            <a:pPr algn="ctr">
              <a:lnSpc>
                <a:spcPts val="14815"/>
              </a:lnSpc>
            </a:pPr>
            <a:r>
              <a:rPr lang="en-US" sz="10658">
                <a:solidFill>
                  <a:srgbClr val="048AFF"/>
                </a:solidFill>
                <a:latin typeface="Now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DAGFHej5dSI</dc:identifier>
  <dcterms:modified xsi:type="dcterms:W3CDTF">2011-08-01T06:04:30Z</dcterms:modified>
  <cp:revision>1</cp:revision>
  <dc:title>open bus transmit</dc:title>
</cp:coreProperties>
</file>